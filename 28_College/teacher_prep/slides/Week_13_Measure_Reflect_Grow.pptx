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Start with the group agreements and the routine: Hackles up? Pause. Check. Tell. This deck is a plain outline. Adapt the words, keep the structure. No student data appears anywhere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outcomes aloud and ask what a learner could show by the end of the session. Each outcome maps to an Academy competency (A to F), InTASC and ISTE Educator standards [VERIFY codes] in the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 for this week. Be a role model in honesty: no claim of effectiveness for Hackles. The synthetic dataset is invented for practice and says so. Remind candidates that surveys cannot show cause or behavior and that post-lesson answers can be inflated by wanting to give the right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 the number, the group size, and that there was no comparison group. Always include the limits paragraph.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24 students, one child is about four percentage points. Small changes may be noise. Treat results as signals, not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Assessment Pack Section 13. Ceiling effects too: if most answer well at the start, there is little room to improve.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it to your own teaching: what happened, what helped, what will we change? No blame.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instructions are in the Weekly Plans document. Concepts Lab: Demo 13 in class. Facilitator Kit method: Two Glows and a Grow; Facilitator Evaluation, Section 7 ('How to read the results').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LMS module for the exact items. Remind candidates that no student names, work, passwords or incident details go into any assignment. Quiz mastery is 8 of 10 with a retake.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calmly: one breath together. Stay for ten minutes for questions. Never leave a candidate who seems distressed alone; follow the counselor partner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88720"/>
            <a:ext cx="11064240" cy="2011680"/>
          </a:xfrm>
        </p:spPr>
        <p:txBody>
          <a:bodyPr wrap="square" anchor="b"/>
          <a:lstStyle/>
          <a:p>
            <a:pPr algn="l"/>
            <a:r>
              <a:rPr sz="3400" b="1">
                <a:solidFill>
                  <a:srgbClr val="2B2D42"/>
                </a:solidFill>
                <a:latin typeface="Calibri"/>
              </a:rPr>
              <a:t>Week 13: Measure, Reflect, Grow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474720"/>
            <a:ext cx="11064240" cy="1280160"/>
          </a:xfrm>
        </p:spPr>
        <p:txBody>
          <a:bodyPr wrap="square"/>
          <a:lstStyle/>
          <a:p>
            <a:pPr algn="l"/>
            <a:r>
              <a:rPr sz="2400">
                <a:solidFill>
                  <a:srgbClr val="2F6F73"/>
                </a:solidFill>
                <a:latin typeface="Calibri"/>
              </a:rPr>
              <a:t>Teaching Digital Safety and Cybersecurity in K-12 | Hackles College Edition | Academy module M8</a:t>
            </a:r>
          </a:p>
        </p:txBody>
      </p:sp>
      <p:sp>
        <p:nvSpPr>
          <p:cNvPr id="4" name="TextBox 3" descr="Copyright and license notice for these slides.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A5C70"/>
                </a:solidFill>
                <a:latin typeface="Calibri"/>
              </a:rPr>
              <a:t>© 2026 Competence Collective. Lesson text and teaching materials CC BY-NC 4.0. The Hackles name, logos, characters and artwork are not covered by that license: print and share them unaltered for classroom and family use; any other use needs written permission. [VERIFY with counsel]</a:t>
            </a:r>
          </a:p>
        </p:txBody>
      </p:sp>
      <p:sp>
        <p:nvSpPr>
          <p:cNvPr id="5" name="Rectangle 4" descr="Decorative orange rule under the slide title."/>
          <p:cNvSpPr/>
          <p:nvPr/>
        </p:nvSpPr>
        <p:spPr>
          <a:xfrm>
            <a:off x="548640" y="324612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Learning outcomes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8: Use simple, honest measures (Tell-Readiness, pre/post tallies, rubrics) and report only what the evidence supports, including what is not known about effectiveness.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10: Reflect on your own practice, wellbeing and growth edges, and set a 30-60-90 plan.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Agenda (3 hours)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0:00  Opening (10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0:10  What to measure and what not to (25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0:35  Activity 8.1 Mini-Tally with synthetic class data (35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1:10  Break (10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1:20  What is known and not known (30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1:50  Concepts Lab Demo 13: Incident Response Drill and Hotwash (30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2:20  Activity 8.2 Teach-Back and 8.3 30-60-90 plan (20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2:40  Post-Course Confidence Survey (10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2:50  Closing (10 min)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Say this, not that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Say: 'More of my students said they would tell a trusted adult after the lessons.'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Not: 'My lessons prevented abuse.'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Say: 'Scores rose from 52 to 74 percent on the core items.'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Say: 'We do not know yet whether this changes behavior over the long term.'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A five-step tally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Gather and score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Tally the best answers, pre and post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Convert to percentages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Compare and subtract (percentage points)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Look at the wrong answers, not just the scores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What a pre/post survey cannot show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Cause (no comparison group)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Behavior under real pressure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Honest answers (social desirability)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Long-term effects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Precision in small classes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Blameless review: the hotwash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Detect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Contain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Recover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Learn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Key activities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What to measure and what not to (25 min): Three questions: did they learn, would they act, is it safe to tell? Never ask students to....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Activity 8.1 Mini-Tally with synthetic class data (35 min): Use the synthetic 6-8 class dataset (research folder, code and data).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What is known and not known (30 min): Walk the evidence brief: what the kit can say; what it cannot.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Concepts Lab Demo 13: Incident Response Drill and Hotwash (30 min): Blameless review.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Activity 8.2 Teach-Back and 8.3 30-60-90 plan (20 min): Teach a colleague the routine and the three promises in three minutes.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Due, assigned and field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Due this week: Unit plan final due. Journal entry 12.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Assigned: Capstone plan and materials due Week 14. Journal entry 13. Module 8 self-check due Week 14. Supervised lesson 2 completed.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Field tie-in: Supervised lesson 2 delivered by the end of this week if not already done. Mentor completes the observation form and the pre/post conference notes.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Close and open door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Exit ticket: one sentence about what you will try this week.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false alarm is fine. It is never your fault. You will not be in trouble for telling.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If anything today made you think of something, talk to your instructor or the counselor partner.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Next week: Capstone Studio: Designing the Family or Community Workshop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13: Measure, Reflect, Grow</dc:title>
  <dc:subject>Teaching Digital Safety and Cybersecurity in K-12</dc:subject>
  <dc:creator>Competence Collective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