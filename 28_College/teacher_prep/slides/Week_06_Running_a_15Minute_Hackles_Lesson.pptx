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Start with the group agreements and the routine: Hackles up? Pause. Check. Tell. This deck is a plain outline. Adapt the words, keep the structure. No student data appears anywhere in this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outcomes aloud and ask what a learner could show by the end of the session. Each outcome maps to an Academy competency (A to F), InTASC and ISTE Educator standards [VERIFY codes] in the syllabus.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Instructor notes for this week. Micro-teach choices exclude higher-care lessons (see Assignments and Rubrics, Section 2). If a candidate's lesson drifts into graphic detail or asks a peer for a personal story, pause and reset. Run timers visibly. Rubric is for growth in Week 6; it is graded in Week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do, we do, you do. If you are still talking at minute three, you have lost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 two this week and add one a week. Wait three to five seconds after a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worrying answer is information: thank them for honesty, practice a different response, follow up privately.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18 to 24 total is Hackles-Ready. 12 to 17 solid; refine two rows. 6 to 11 keep practicing with a partner.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instructions are in the Weekly Plans document. Concepts Lab: None. Models of the four parts can borrow any Concepts Lab 15-minute version (for example Demo 3 or Demo 8). Facilitator Kit method: Speed-teach round with H12 cards (Half-Day Guide, Segment 8) and Two Glows and a Grow.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to the LMS module for the exact items. Remind candidates that no student names, work, passwords or incident details go into any assignment. Quiz mastery is 8 of 10 with a retake.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calmly: one breath together. Stay for ten minutes for questions. Never leave a candidate who seems distressed alone; follow the counselor partner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188720"/>
            <a:ext cx="11064240" cy="2011680"/>
          </a:xfrm>
        </p:spPr>
        <p:txBody>
          <a:bodyPr wrap="square" anchor="b"/>
          <a:lstStyle/>
          <a:p>
            <a:pPr algn="l"/>
            <a:r>
              <a:rPr sz="3400" b="1">
                <a:solidFill>
                  <a:srgbClr val="2B2D42"/>
                </a:solidFill>
                <a:latin typeface="Calibri"/>
              </a:rPr>
              <a:t>Week 6: Running a 15-Minute Hackles Lesson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474720"/>
            <a:ext cx="11064240" cy="1280160"/>
          </a:xfrm>
        </p:spPr>
        <p:txBody>
          <a:bodyPr wrap="square"/>
          <a:lstStyle/>
          <a:p>
            <a:pPr algn="l"/>
            <a:r>
              <a:rPr sz="2400">
                <a:solidFill>
                  <a:srgbClr val="2F6F73"/>
                </a:solidFill>
                <a:latin typeface="Calibri"/>
              </a:rPr>
              <a:t>Teaching Digital Safety and Cybersecurity in K-12 | Hackles College Edition | Academy module M5</a:t>
            </a:r>
          </a:p>
        </p:txBody>
      </p:sp>
      <p:sp>
        <p:nvSpPr>
          <p:cNvPr id="4" name="TextBox 3" descr="Copyright and license notice for these slides."/>
          <p:cNvSpPr txBox="1"/>
          <p:nvPr/>
        </p:nvSpPr>
        <p:spPr>
          <a:xfrm>
            <a:off x="548640" y="51206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5A5C70"/>
                </a:solidFill>
                <a:latin typeface="Calibri"/>
              </a:rPr>
              <a:t>© 2026 Competence Collective. Lesson text and teaching materials CC BY-NC 4.0. The Hackles name, logos, characters and artwork are not covered by that license: print and share them unaltered for classroom and family use; any other use needs written permission. [VERIFY with counsel]</a:t>
            </a:r>
          </a:p>
        </p:txBody>
      </p:sp>
      <p:sp>
        <p:nvSpPr>
          <p:cNvPr id="5" name="Rectangle 4" descr="Decorative orange rule under the slide title."/>
          <p:cNvSpPr/>
          <p:nvPr/>
        </p:nvSpPr>
        <p:spPr>
          <a:xfrm>
            <a:off x="548640" y="324612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Learning outcomes 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CLO 4: Design, teach and refine a skills-based 15-minute Hackles lesson (Hook 2, Activity 8, Discuss 3, Takeaway 2) and a five-lesson unit that spirals across a grade band and maps to standards.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Agenda (3 hours)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0:00  Opening (10 min)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0:10  Anatomy of the 15 minutes (25 min)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0:35  Activity 5.1 Timing Card Sort (25 min)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1:00  Facilitation moves and Activity 5.2 Question Ladder Workout (25 min)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1:25  Break (10 min)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1:35  Mini micro-teach (7 minutes) in trios (45 min)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2:20  Plan your full micro-teach (15 min)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2:35  Classroom management during safety lessons (15 min)</a:t>
            </a:r>
          </a:p>
          <a:p>
            <a:pPr>
              <a:spcAft>
                <a:spcPts val="800"/>
              </a:spcAft>
            </a:pPr>
            <a:r>
              <a:rPr sz="2400">
                <a:solidFill>
                  <a:srgbClr val="2B2D42"/>
                </a:solidFill>
                <a:latin typeface="Calibri"/>
              </a:rPr>
              <a:t>2:50  Closing (10 min)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The 15-minute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Hook: 2 minutes, wake curiosity, name the skill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Activity: 8 minutes, every student does the skill at least twice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Discuss: 3 minutes, what happened, so what, now what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Takeaway: 2 minutes, skill plus gesture plus promise, and the open door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Facilitation toolkit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Model it; think-pair-share; wait time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Choral response; hand signals; thumbs check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Anonymous tools; the pass card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Questioning that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Open, not closed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Ladder: recall, explain, apply, evaluate, create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Respond to a wrong answer with curiosity: 'Let's test it'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Golden question: What would help you do something different next time?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Micro-Teach Rubric (six rows, 1 to 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Skill focus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Structure and timing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Active practice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Tone and language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Questioning and facilitation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Safety and closure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Key activities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Anatomy of the 15 minutes (25 min): Hook 2, Activity 8, Discuss 3, Takeaway 2.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Activity 5.1 Timing Card Sort (25 min): Sort lesson steps into the four parts and assign minutes.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Facilitation moves and Activity 5.2 Question Ladder Workout (25 min): Model it, think-pair-share, wait time (3 to 5 seconds), choral response, hand signals,....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Mini micro-teach (7 minutes) in trios (45 min): Hook 1, Activity 4, Discuss 1, Takeaway 1.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Due, assigned and field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Due this week: Unit plan proposal. Module 4 self-check.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Assigned: Micro-teach plan (one page) and materials due at the start of Week 7. Journal entry 6. Module 5 self-check due Week 7.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Field tie-in: Pre-conference with your mentor teacher about two supervised lessons for Weeks 10 to 13 (standard-care lessons only).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914400"/>
          </a:xfrm>
        </p:spPr>
        <p:txBody>
          <a:bodyPr wrap="square" anchor="b"/>
          <a:lstStyle/>
          <a:p>
            <a:pPr algn="l"/>
            <a:r>
              <a:rPr sz="3600" b="1">
                <a:solidFill>
                  <a:srgbClr val="2B2D42"/>
                </a:solidFill>
                <a:latin typeface="Calibri"/>
              </a:rPr>
              <a:t>Close and open door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200"/>
            <a:ext cx="11064240" cy="457200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Exit ticket: one sentence about what you will try this week.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A false alarm is fine. It is never your fault. You will not be in trouble for telling.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If anything today made you think of something, talk to your instructor or the counselor partner.</a:t>
            </a:r>
          </a:p>
          <a:p>
            <a:pPr>
              <a:spcAft>
                <a:spcPts val="800"/>
              </a:spcAft>
            </a:pPr>
            <a:r>
              <a:rPr sz="2600">
                <a:solidFill>
                  <a:srgbClr val="2B2D42"/>
                </a:solidFill>
                <a:latin typeface="Calibri"/>
              </a:rPr>
              <a:t>Next week: Micro-Teach Lab (Assessment 3)</a:t>
            </a:r>
          </a:p>
        </p:txBody>
      </p:sp>
      <p:sp>
        <p:nvSpPr>
          <p:cNvPr id="4" name="Rectangle 3" descr="Decorative orange rule under the slide title."/>
          <p:cNvSpPr/>
          <p:nvPr/>
        </p:nvSpPr>
        <p:spPr>
          <a:xfrm>
            <a:off x="548640" y="1325880"/>
            <a:ext cx="1463040" cy="54000"/>
          </a:xfrm>
          <a:prstGeom prst="rect">
            <a:avLst/>
          </a:prstGeom>
          <a:solidFill>
            <a:srgbClr val="FF8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 descr="Footer with copyright and license notice."/>
          <p:cNvSpPr txBox="1"/>
          <p:nvPr/>
        </p:nvSpPr>
        <p:spPr>
          <a:xfrm>
            <a:off x="548640" y="6355080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C70"/>
                </a:solidFill>
                <a:latin typeface="Calibri"/>
              </a:rPr>
              <a:t>© 2026 Competence Collective. Lesson text CC BY-NC 4.0. Hackles name, logos and art not covered. [VERIFY with counsel]</a:t>
            </a:r>
          </a:p>
        </p:txBody>
      </p:sp>
      <p:sp>
        <p:nvSpPr>
          <p:cNvPr id="6" name="TextBox 5" descr="Slide number.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A5C7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6: Running a 15-Minute Hackles Lesson</dc:title>
  <dc:subject>Teaching Digital Safety and Cybersecurity in K-12</dc:subject>
  <dc:creator>Competence Collective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