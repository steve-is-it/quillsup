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Start with the group agreements and the routine: Hackles up? Pause. Check. Tell. This deck is a plain outline. Adapt the words, keep the structure. No student data appears anywhere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outcomes aloud and ask what a learner could show by the end of the session. Each outcome maps to an Academy competency (A to F), InTASC and ISTE Educator standards [VERIFY codes] in the syllabus.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for this week. Run the full safety rails. The counselor partner is in the room or just outside, and participants know who and where. Offer the written alternative to everyone without explanation. If any candidate leaves, the counselor follows a few minutes later for a quiet check-in. Do not turn the practice into a game. If time is short, drop to two rounds and keep the full debrief. Never cut the de-role.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slide aloud before the first round. Say the step-out promise: nobody asks why. Introduce the counselor partner by name and say where they will be. Never cut the de-role.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not an investigator, a therapist or a police officer. Not doing those things is the correct response.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Child Welfare Information Gateway (current through May 2023): school staff are named as reporters in about 44 states and DC, and some states make every adult a reporter. Confirm your own state's current statute and your district policy.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promise secrecy or outcomes. Do not ask 'why' questions. Move to a private place that is still visible to other adults.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content note and the step-out promise aloud. The counselor partner introduces themself and says where they will be.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instructions are in the Weekly Plans document. Concepts Lab: None. This week is the heart of the course; Concepts Lab content waits. Facilitator Kit method: Disclosure Role-Play with Safety Rails (Half-Day Guide, Segment 6; Handout H11 safety rails and traffic-light cards). Never cut the de-role.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LMS module for the exact items. Remind candidates that no student names, work, passwords or incident details go into any assignment. Quiz mastery is 8 of 10 with a retake.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calmly: one breath together. Stay for ten minutes for questions. Never leave a candidate who seems distressed alone; follow the counselor partner 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ctrTitle"/>
          </p:nvPr>
        </p:nvSpPr>
        <p:spPr>
          <a:xfrm>
            <a:off x="548640" y="1188720"/>
            <a:ext cx="11064240" cy="2011680"/>
          </a:xfrm>
        </p:spPr>
        <p:txBody>
          <a:bodyPr wrap="square" anchor="b"/>
          <a:lstStyle/>
          <a:p>
            <a:pPr algn="l"/>
            <a:r>
              <a:rPr sz="3400" b="1">
                <a:solidFill>
                  <a:srgbClr val="2B2D42"/>
                </a:solidFill>
                <a:latin typeface="Calibri"/>
              </a:rPr>
              <a:t>Week 8: Responding to Disclosures I: Duty, the First 10 Minutes and Care</a:t>
            </a:r>
          </a:p>
        </p:txBody>
      </p:sp>
      <p:sp>
        <p:nvSpPr>
          <p:cNvPr id="3" name="Subtitle 2"/>
          <p:cNvSpPr>
            <a:spLocks noGrp="1"/>
          </p:cNvSpPr>
          <p:nvPr>
            <p:ph type="subTitle" idx="1"/>
          </p:nvPr>
        </p:nvSpPr>
        <p:spPr>
          <a:xfrm>
            <a:off x="548640" y="3474720"/>
            <a:ext cx="11064240" cy="1280160"/>
          </a:xfrm>
        </p:spPr>
        <p:txBody>
          <a:bodyPr wrap="square"/>
          <a:lstStyle/>
          <a:p>
            <a:pPr algn="l"/>
            <a:r>
              <a:rPr sz="2400">
                <a:solidFill>
                  <a:srgbClr val="2F6F73"/>
                </a:solidFill>
                <a:latin typeface="Calibri"/>
              </a:rPr>
              <a:t>Teaching Digital Safety and Cybersecurity in K-12 | Hackles College Edition | Academy module M6</a:t>
            </a:r>
          </a:p>
        </p:txBody>
      </p:sp>
      <p:sp>
        <p:nvSpPr>
          <p:cNvPr id="4" name="TextBox 3" descr="Copyright and license notice for these slides."/>
          <p:cNvSpPr txBox="1"/>
          <p:nvPr/>
        </p:nvSpPr>
        <p:spPr>
          <a:xfrm>
            <a:off x="548640" y="5120640"/>
            <a:ext cx="11064240" cy="1097280"/>
          </a:xfrm>
          <a:prstGeom prst="rect">
            <a:avLst/>
          </a:prstGeom>
          <a:noFill/>
        </p:spPr>
        <p:txBody>
          <a:bodyPr wrap="square">
            <a:spAutoFit/>
          </a:bodyPr>
          <a:lstStyle/>
          <a:p>
            <a:r>
              <a:rPr sz="1400">
                <a:solidFill>
                  <a:srgbClr val="5A5C70"/>
                </a:solidFill>
                <a:latin typeface="Calibri"/>
              </a:rPr>
              <a:t>© 2026 Competence Collective. Lesson text and teaching materials CC BY-NC 4.0. The Hackles name, logos, characters and artwork are not covered by that license: print and share them unaltered for classroom and family use; any other use needs written permission. [VERIFY with counsel]</a:t>
            </a:r>
          </a:p>
        </p:txBody>
      </p:sp>
      <p:sp>
        <p:nvSpPr>
          <p:cNvPr id="5" name="Rectangle 4" descr="Decorative orange rule under the slide title."/>
          <p:cNvSpPr/>
          <p:nvPr/>
        </p:nvSpPr>
        <p:spPr>
          <a:xfrm>
            <a:off x="548640" y="324612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Learning outcomes this week</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CLO 5: Carry out the First 10 Minutes response, state your own reporting duty and local route, protect evidence without viewing images, document facts, and follow a personal care plan.</a:t>
            </a:r>
          </a:p>
          <a:p>
            <a:pPr>
              <a:spcAft>
                <a:spcPts val="800"/>
              </a:spcAft>
            </a:pPr>
            <a:r>
              <a:rPr sz="2600">
                <a:solidFill>
                  <a:srgbClr val="2B2D42"/>
                </a:solidFill>
                <a:latin typeface="Calibri"/>
              </a:rPr>
              <a:t>CLO 9: Apply legal and policy frameworks (mandated reporting, state instruction mandates, CIPA, FERPA, COPPA, PPRA) to classroom decisions, mark what is unverified, and know when to ask counsel.</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Agenda (3 hours)</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200">
                <a:solidFill>
                  <a:srgbClr val="2B2D42"/>
                </a:solidFill>
                <a:latin typeface="Calibri"/>
              </a:rPr>
              <a:t>0:00  Opening and content note (10 min)</a:t>
            </a:r>
          </a:p>
          <a:p>
            <a:pPr>
              <a:spcAft>
                <a:spcPts val="800"/>
              </a:spcAft>
            </a:pPr>
            <a:r>
              <a:rPr sz="2200">
                <a:solidFill>
                  <a:srgbClr val="2B2D42"/>
                </a:solidFill>
                <a:latin typeface="Calibri"/>
              </a:rPr>
              <a:t>0:10  Mandated reporting basics (25 min)</a:t>
            </a:r>
          </a:p>
          <a:p>
            <a:pPr>
              <a:spcAft>
                <a:spcPts val="800"/>
              </a:spcAft>
            </a:pPr>
            <a:r>
              <a:rPr sz="2200">
                <a:solidFill>
                  <a:srgbClr val="2B2D42"/>
                </a:solidFill>
                <a:latin typeface="Calibri"/>
              </a:rPr>
              <a:t>0:35  The First 10 Minutes (20 min)</a:t>
            </a:r>
          </a:p>
          <a:p>
            <a:pPr>
              <a:spcAft>
                <a:spcPts val="800"/>
              </a:spcAft>
            </a:pPr>
            <a:r>
              <a:rPr sz="2200">
                <a:solidFill>
                  <a:srgbClr val="2B2D42"/>
                </a:solidFill>
                <a:latin typeface="Calibri"/>
              </a:rPr>
              <a:t>0:55  Break (10 min)</a:t>
            </a:r>
          </a:p>
          <a:p>
            <a:pPr>
              <a:spcAft>
                <a:spcPts val="800"/>
              </a:spcAft>
            </a:pPr>
            <a:r>
              <a:rPr sz="2200">
                <a:solidFill>
                  <a:srgbClr val="2B2D42"/>
                </a:solidFill>
                <a:latin typeface="Calibri"/>
              </a:rPr>
              <a:t>1:05  Activity 6.2 Say It Out Loud (20 min)</a:t>
            </a:r>
          </a:p>
          <a:p>
            <a:pPr>
              <a:spcAft>
                <a:spcPts val="800"/>
              </a:spcAft>
            </a:pPr>
            <a:r>
              <a:rPr sz="2200">
                <a:solidFill>
                  <a:srgbClr val="2B2D42"/>
                </a:solidFill>
                <a:latin typeface="Calibri"/>
              </a:rPr>
              <a:t>1:25  Demonstration and warm-up round (25 min)</a:t>
            </a:r>
          </a:p>
          <a:p>
            <a:pPr>
              <a:spcAft>
                <a:spcPts val="800"/>
              </a:spcAft>
            </a:pPr>
            <a:r>
              <a:rPr sz="2200">
                <a:solidFill>
                  <a:srgbClr val="2B2D42"/>
                </a:solidFill>
                <a:latin typeface="Calibri"/>
              </a:rPr>
              <a:t>1:50  Round 2 and Round 3 (25 min)</a:t>
            </a:r>
          </a:p>
          <a:p>
            <a:pPr>
              <a:spcAft>
                <a:spcPts val="800"/>
              </a:spcAft>
            </a:pPr>
            <a:r>
              <a:rPr sz="2200">
                <a:solidFill>
                  <a:srgbClr val="2B2D42"/>
                </a:solidFill>
                <a:latin typeface="Calibri"/>
              </a:rPr>
              <a:t>2:15  De-role and debrief (15 min)</a:t>
            </a:r>
          </a:p>
          <a:p>
            <a:pPr>
              <a:spcAft>
                <a:spcPts val="800"/>
              </a:spcAft>
            </a:pPr>
            <a:r>
              <a:rPr sz="2200">
                <a:solidFill>
                  <a:srgbClr val="2B2D42"/>
                </a:solidFill>
                <a:latin typeface="Calibri"/>
              </a:rPr>
              <a:t>2:30  Contact Card and Reporting Map (20 min)</a:t>
            </a:r>
          </a:p>
          <a:p>
            <a:pPr>
              <a:spcAft>
                <a:spcPts val="800"/>
              </a:spcAft>
            </a:pPr>
            <a:r>
              <a:rPr sz="2200">
                <a:solidFill>
                  <a:srgbClr val="2B2D42"/>
                </a:solidFill>
                <a:latin typeface="Calibri"/>
              </a:rPr>
              <a:t>2:50  Closing (10 min)</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Content note and your choices</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Today's cards are fictional and non-graphic. The topic can still touch real life for anyone.</a:t>
            </a:r>
          </a:p>
          <a:p>
            <a:pPr>
              <a:spcAft>
                <a:spcPts val="800"/>
              </a:spcAft>
            </a:pPr>
            <a:r>
              <a:rPr sz="2600">
                <a:solidFill>
                  <a:srgbClr val="2B2D42"/>
                </a:solidFill>
                <a:latin typeface="Calibri"/>
              </a:rPr>
              <a:t>You choose how you take part: Teacher, Observer, or the written alternative.</a:t>
            </a:r>
          </a:p>
          <a:p>
            <a:pPr>
              <a:spcAft>
                <a:spcPts val="800"/>
              </a:spcAft>
            </a:pPr>
            <a:r>
              <a:rPr sz="2600">
                <a:solidFill>
                  <a:srgbClr val="2B2D42"/>
                </a:solidFill>
                <a:latin typeface="Calibri"/>
              </a:rPr>
              <a:t>Traffic-light cards: green keep going, yellow slow down, red pause the scene.</a:t>
            </a:r>
          </a:p>
          <a:p>
            <a:pPr>
              <a:spcAft>
                <a:spcPts val="800"/>
              </a:spcAft>
            </a:pPr>
            <a:r>
              <a:rPr sz="2600">
                <a:solidFill>
                  <a:srgbClr val="2B2D42"/>
                </a:solidFill>
                <a:latin typeface="Calibri"/>
              </a:rPr>
              <a:t>No points, no timers shown, no audience. De-role at the end: 'I'm [name], that was pretend.'</a:t>
            </a:r>
          </a:p>
          <a:p>
            <a:pPr>
              <a:spcAft>
                <a:spcPts val="800"/>
              </a:spcAft>
            </a:pPr>
            <a:r>
              <a:rPr sz="2600">
                <a:solidFill>
                  <a:srgbClr val="2B2D42"/>
                </a:solidFill>
                <a:latin typeface="Calibri"/>
              </a:rPr>
              <a:t>The counselor partner is in the room or just outside. Campus counseling and 988 details are in the syllabus.</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Your role: recognition and response</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Listen and stay calm</a:t>
            </a:r>
          </a:p>
          <a:p>
            <a:pPr>
              <a:spcAft>
                <a:spcPts val="800"/>
              </a:spcAft>
            </a:pPr>
            <a:r>
              <a:rPr sz="2600">
                <a:solidFill>
                  <a:srgbClr val="2B2D42"/>
                </a:solidFill>
                <a:latin typeface="Calibri"/>
              </a:rPr>
              <a:t>Reassure: it is not their fault</a:t>
            </a:r>
          </a:p>
          <a:p>
            <a:pPr>
              <a:spcAft>
                <a:spcPts val="800"/>
              </a:spcAft>
            </a:pPr>
            <a:r>
              <a:rPr sz="2600">
                <a:solidFill>
                  <a:srgbClr val="2B2D42"/>
                </a:solidFill>
                <a:latin typeface="Calibri"/>
              </a:rPr>
              <a:t>Protect evidence safely, without viewing images</a:t>
            </a:r>
          </a:p>
          <a:p>
            <a:pPr>
              <a:spcAft>
                <a:spcPts val="800"/>
              </a:spcAft>
            </a:pPr>
            <a:r>
              <a:rPr sz="2600">
                <a:solidFill>
                  <a:srgbClr val="2B2D42"/>
                </a:solidFill>
                <a:latin typeface="Calibri"/>
              </a:rPr>
              <a:t>Report personally and promptly</a:t>
            </a:r>
          </a:p>
          <a:p>
            <a:pPr>
              <a:spcAft>
                <a:spcPts val="800"/>
              </a:spcAft>
            </a:pPr>
            <a:r>
              <a:rPr sz="2600">
                <a:solidFill>
                  <a:srgbClr val="2B2D42"/>
                </a:solidFill>
                <a:latin typeface="Calibri"/>
              </a:rPr>
              <a:t>Hand off and document; look after the child and yourself</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Mandated reporting: five questions</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Am I a mandated reporter?</a:t>
            </a:r>
          </a:p>
          <a:p>
            <a:pPr>
              <a:spcAft>
                <a:spcPts val="800"/>
              </a:spcAft>
            </a:pPr>
            <a:r>
              <a:rPr sz="2600">
                <a:solidFill>
                  <a:srgbClr val="2B2D42"/>
                </a:solidFill>
                <a:latin typeface="Calibri"/>
              </a:rPr>
              <a:t>What is the standard? Usually reasonable suspicion, not proof</a:t>
            </a:r>
          </a:p>
          <a:p>
            <a:pPr>
              <a:spcAft>
                <a:spcPts val="800"/>
              </a:spcAft>
            </a:pPr>
            <a:r>
              <a:rPr sz="2600">
                <a:solidFill>
                  <a:srgbClr val="2B2D42"/>
                </a:solidFill>
                <a:latin typeface="Calibri"/>
              </a:rPr>
              <a:t>Who do I report to, and how?</a:t>
            </a:r>
          </a:p>
          <a:p>
            <a:pPr>
              <a:spcAft>
                <a:spcPts val="800"/>
              </a:spcAft>
            </a:pPr>
            <a:r>
              <a:rPr sz="2600">
                <a:solidFill>
                  <a:srgbClr val="2B2D42"/>
                </a:solidFill>
                <a:latin typeface="Calibri"/>
              </a:rPr>
              <a:t>How fast? Ask your administrator now [VERIFY]</a:t>
            </a:r>
          </a:p>
          <a:p>
            <a:pPr>
              <a:spcAft>
                <a:spcPts val="800"/>
              </a:spcAft>
            </a:pPr>
            <a:r>
              <a:rPr sz="2600">
                <a:solidFill>
                  <a:srgbClr val="2B2D42"/>
                </a:solidFill>
                <a:latin typeface="Calibri"/>
              </a:rPr>
              <a:t>Is my duty personal? Telling a principal may not satisfy it [VERIFY]</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The First 10 Minutes</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Thank you for telling me. This is not your fault. You are not in trouble.</a:t>
            </a:r>
          </a:p>
          <a:p>
            <a:pPr>
              <a:spcAft>
                <a:spcPts val="800"/>
              </a:spcAft>
            </a:pPr>
            <a:r>
              <a:rPr sz="2600">
                <a:solidFill>
                  <a:srgbClr val="2B2D42"/>
                </a:solidFill>
                <a:latin typeface="Calibri"/>
              </a:rPr>
              <a:t>Open prompts only: Tell me more. What happened next?</a:t>
            </a:r>
          </a:p>
          <a:p>
            <a:pPr>
              <a:spcAft>
                <a:spcPts val="800"/>
              </a:spcAft>
            </a:pPr>
            <a:r>
              <a:rPr sz="2600">
                <a:solidFill>
                  <a:srgbClr val="2B2D42"/>
                </a:solidFill>
                <a:latin typeface="Calibri"/>
              </a:rPr>
              <a:t>Be honest: I can't keep this a secret, because I want to get you help. I will tell you who I tell.</a:t>
            </a:r>
          </a:p>
          <a:p>
            <a:pPr>
              <a:spcAft>
                <a:spcPts val="800"/>
              </a:spcAft>
            </a:pPr>
            <a:r>
              <a:rPr sz="2600">
                <a:solidFill>
                  <a:srgbClr val="2B2D42"/>
                </a:solidFill>
                <a:latin typeface="Calibri"/>
              </a:rPr>
              <a:t>Do not view, copy, forward or screenshot suspected sexual images of a minor</a:t>
            </a:r>
          </a:p>
          <a:p>
            <a:pPr>
              <a:spcAft>
                <a:spcPts val="800"/>
              </a:spcAft>
            </a:pPr>
            <a:r>
              <a:rPr sz="2600">
                <a:solidFill>
                  <a:srgbClr val="2B2D42"/>
                </a:solidFill>
                <a:latin typeface="Calibri"/>
              </a:rPr>
              <a:t>Write the child's exact words, date, time, who you told</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Safety rails for today</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Everything is fictional and non-graphic</a:t>
            </a:r>
          </a:p>
          <a:p>
            <a:pPr>
              <a:spcAft>
                <a:spcPts val="800"/>
              </a:spcAft>
            </a:pPr>
            <a:r>
              <a:rPr sz="2600">
                <a:solidFill>
                  <a:srgbClr val="2B2D42"/>
                </a:solidFill>
                <a:latin typeface="Calibri"/>
              </a:rPr>
              <a:t>Traffic-light cards: green, yellow, red</a:t>
            </a:r>
          </a:p>
          <a:p>
            <a:pPr>
              <a:spcAft>
                <a:spcPts val="800"/>
              </a:spcAft>
            </a:pPr>
            <a:r>
              <a:rPr sz="2600">
                <a:solidFill>
                  <a:srgbClr val="2B2D42"/>
                </a:solidFill>
                <a:latin typeface="Calibri"/>
              </a:rPr>
              <a:t>No points. No timers shown. No audience</a:t>
            </a:r>
          </a:p>
          <a:p>
            <a:pPr>
              <a:spcAft>
                <a:spcPts val="800"/>
              </a:spcAft>
            </a:pPr>
            <a:r>
              <a:rPr sz="2600">
                <a:solidFill>
                  <a:srgbClr val="2B2D42"/>
                </a:solidFill>
                <a:latin typeface="Calibri"/>
              </a:rPr>
              <a:t>Observers are a full role</a:t>
            </a:r>
          </a:p>
          <a:p>
            <a:pPr>
              <a:spcAft>
                <a:spcPts val="800"/>
              </a:spcAft>
            </a:pPr>
            <a:r>
              <a:rPr sz="2600">
                <a:solidFill>
                  <a:srgbClr val="2B2D42"/>
                </a:solidFill>
                <a:latin typeface="Calibri"/>
              </a:rPr>
              <a:t>De-role: 'I'm [name], that was pretend.'</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Key activities today</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Mandated reporting basics (25 min): Five questions to answer for your state and district: Am I a mandated reporter? What is the....</a:t>
            </a:r>
          </a:p>
          <a:p>
            <a:pPr>
              <a:spcAft>
                <a:spcPts val="800"/>
              </a:spcAft>
            </a:pPr>
            <a:r>
              <a:rPr sz="2600">
                <a:solidFill>
                  <a:srgbClr val="2B2D42"/>
                </a:solidFill>
                <a:latin typeface="Calibri"/>
              </a:rPr>
              <a:t>The First 10 Minutes (20 min): Step by step: receive it, listen and reassure, ask only what you need, be honest about what....</a:t>
            </a:r>
          </a:p>
          <a:p>
            <a:pPr>
              <a:spcAft>
                <a:spcPts val="800"/>
              </a:spcAft>
            </a:pPr>
            <a:r>
              <a:rPr sz="2600">
                <a:solidFill>
                  <a:srgbClr val="2B2D42"/>
                </a:solidFill>
                <a:latin typeface="Calibri"/>
              </a:rPr>
              <a:t>Activity 6.2 Say It Out Loud (20 min): Practice each phrase in your calmest voice and softest face.</a:t>
            </a:r>
          </a:p>
          <a:p>
            <a:pPr>
              <a:spcAft>
                <a:spcPts val="800"/>
              </a:spcAft>
            </a:pPr>
            <a:r>
              <a:rPr sz="2600">
                <a:solidFill>
                  <a:srgbClr val="2B2D42"/>
                </a:solidFill>
                <a:latin typeface="Calibri"/>
              </a:rPr>
              <a:t>Demonstration and warm-up round (25 min): Facilitator Kit method (Half-Day Guide, Segment 6): the instructor and counselor....</a:t>
            </a:r>
          </a:p>
          <a:p>
            <a:pPr>
              <a:spcAft>
                <a:spcPts val="800"/>
              </a:spcAft>
            </a:pPr>
            <a:r>
              <a:rPr sz="2600">
                <a:solidFill>
                  <a:srgbClr val="2B2D42"/>
                </a:solidFill>
                <a:latin typeface="Calibri"/>
              </a:rPr>
              <a:t>Round 2 and Round 3 (25 min): Cards from the Practicum Card deck (Assignments and Rubrics, Section 3).</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Due, assigned and field work</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Due this week: Reading for this week.</a:t>
            </a:r>
          </a:p>
          <a:p>
            <a:pPr>
              <a:spcAft>
                <a:spcPts val="800"/>
              </a:spcAft>
            </a:pPr>
            <a:r>
              <a:rPr sz="2600">
                <a:solidFill>
                  <a:srgbClr val="2B2D42"/>
                </a:solidFill>
                <a:latin typeface="Calibri"/>
              </a:rPr>
              <a:t>Assigned: Contact Card and Reporting Map (draft) due Week 9. Journal entry 8 (about your own preparation and care, general terms only). Module 6 self-check due Week 9.</a:t>
            </a:r>
          </a:p>
          <a:p>
            <a:pPr>
              <a:spcAft>
                <a:spcPts val="800"/>
              </a:spcAft>
            </a:pPr>
            <a:r>
              <a:rPr sz="2600">
                <a:solidFill>
                  <a:srgbClr val="2B2D42"/>
                </a:solidFill>
                <a:latin typeface="Calibri"/>
              </a:rPr>
              <a:t>Field tie-in: Candidates who already have a placement: ask the mentor teacher or counselor how your school routes reports. Do not describe any real incident to anyone in this course.</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Close and open door</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Exit ticket: one sentence about what you will try this week.</a:t>
            </a:r>
          </a:p>
          <a:p>
            <a:pPr>
              <a:spcAft>
                <a:spcPts val="800"/>
              </a:spcAft>
            </a:pPr>
            <a:r>
              <a:rPr sz="2600">
                <a:solidFill>
                  <a:srgbClr val="2B2D42"/>
                </a:solidFill>
                <a:latin typeface="Calibri"/>
              </a:rPr>
              <a:t>A false alarm is fine. It is never your fault. You will not be in trouble for telling.</a:t>
            </a:r>
          </a:p>
          <a:p>
            <a:pPr>
              <a:spcAft>
                <a:spcPts val="800"/>
              </a:spcAft>
            </a:pPr>
            <a:r>
              <a:rPr sz="2600">
                <a:solidFill>
                  <a:srgbClr val="2B2D42"/>
                </a:solidFill>
                <a:latin typeface="Calibri"/>
              </a:rPr>
              <a:t>If anything today made you think of something, talk to your instructor or the counselor partner.</a:t>
            </a:r>
          </a:p>
          <a:p>
            <a:pPr>
              <a:spcAft>
                <a:spcPts val="800"/>
              </a:spcAft>
            </a:pPr>
            <a:r>
              <a:rPr sz="2600">
                <a:solidFill>
                  <a:srgbClr val="2B2D42"/>
                </a:solidFill>
                <a:latin typeface="Calibri"/>
              </a:rPr>
              <a:t>Next week: Responding to Disclosures II: Practicum, STOP-SAVE-TELL-REPORT, Bullying and Self-Care (Assessment 4)</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Responding to Disclosures I: Duty, the First 10 Minutes and Care</dc:title>
  <dc:subject>Teaching Digital Safety and Cybersecurity in K-12</dc:subject>
  <dc:creator>Competence Collective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