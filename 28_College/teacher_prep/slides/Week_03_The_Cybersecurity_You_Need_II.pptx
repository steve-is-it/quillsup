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Start with the group agreements and the routine: Hackles up? Pause. Check. Tell. This deck is a plain outline. Adapt the words, keep the structure. No student data appears anywhere in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outcomes aloud and ask what a learner could show by the end of the session. Each outcome maps to an Academy competency (A to F), InTASC and ISTE Educator standards [VERIFY codes] in the syllabus.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for this week. Phish materials are fake and use .test links. Do not use real organizations' logos. Remind the class that skilled people fall for phishing when tired or rushed, which is why 'never your fault' belongs in every scam lesson. The Settings Stroll is private by design.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these depends on technology. One signal means pause and check; two or more means probably a trick.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to Oops Recovery in the 3-5 band. Shame-free language matters here: the scammer did something wrong; the target did something human.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FBI advice quoted in Module 2 is to create a secret word or phrase with your family to verify identity [VERIFIED in kit: ic3.gov PSA241203].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Quinn only, a fictional person. FERPA and COPPA are named so candidates recognize the terms; the legal detail is in Week 12 and always marked [VERIFY] for counsel.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instructions are in the Weekly Plans document. Concepts Lab: Demo 3, Demo 8, Demo 9 in class. Demo 11 and Demos 4 and 5 are optional stations. Facilitator Kit method: Fake Phish Derby and the Own-Door rule (Half-Day Guide Segment 3; Handouts H4, H8).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to the LMS module for the exact items. Remind candidates that no student names, work, passwords or incident details go into any assignment. Quiz mastery is 8 of 10 with a retake.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calmly: one breath together. Stay for ten minutes for questions. Never leave a candidate who seems distressed alone; follow the counselor partner plan.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ctrTitle"/>
          </p:nvPr>
        </p:nvSpPr>
        <p:spPr>
          <a:xfrm>
            <a:off x="548640" y="1188720"/>
            <a:ext cx="11064240" cy="2011680"/>
          </a:xfrm>
        </p:spPr>
        <p:txBody>
          <a:bodyPr wrap="square" anchor="b"/>
          <a:lstStyle/>
          <a:p>
            <a:pPr algn="l"/>
            <a:r>
              <a:rPr sz="3400" b="1">
                <a:solidFill>
                  <a:srgbClr val="2B2D42"/>
                </a:solidFill>
                <a:latin typeface="Calibri"/>
              </a:rPr>
              <a:t>Week 3: The Cybersecurity You Need II: Phishing, Social Engineering and Privacy</a:t>
            </a:r>
          </a:p>
        </p:txBody>
      </p:sp>
      <p:sp>
        <p:nvSpPr>
          <p:cNvPr id="3" name="Subtitle 2"/>
          <p:cNvSpPr>
            <a:spLocks noGrp="1"/>
          </p:cNvSpPr>
          <p:nvPr>
            <p:ph type="subTitle" idx="1"/>
          </p:nvPr>
        </p:nvSpPr>
        <p:spPr>
          <a:xfrm>
            <a:off x="548640" y="3474720"/>
            <a:ext cx="11064240" cy="1280160"/>
          </a:xfrm>
        </p:spPr>
        <p:txBody>
          <a:bodyPr wrap="square"/>
          <a:lstStyle/>
          <a:p>
            <a:pPr algn="l"/>
            <a:r>
              <a:rPr sz="2400">
                <a:solidFill>
                  <a:srgbClr val="2F6F73"/>
                </a:solidFill>
                <a:latin typeface="Calibri"/>
              </a:rPr>
              <a:t>Teaching Digital Safety and Cybersecurity in K-12 | Hackles College Edition | Academy module M2</a:t>
            </a:r>
          </a:p>
        </p:txBody>
      </p:sp>
      <p:sp>
        <p:nvSpPr>
          <p:cNvPr id="4" name="TextBox 3" descr="Copyright and license notice for these slides."/>
          <p:cNvSpPr txBox="1"/>
          <p:nvPr/>
        </p:nvSpPr>
        <p:spPr>
          <a:xfrm>
            <a:off x="548640" y="5120640"/>
            <a:ext cx="11064240" cy="1097280"/>
          </a:xfrm>
          <a:prstGeom prst="rect">
            <a:avLst/>
          </a:prstGeom>
          <a:noFill/>
        </p:spPr>
        <p:txBody>
          <a:bodyPr wrap="square">
            <a:spAutoFit/>
          </a:bodyPr>
          <a:lstStyle/>
          <a:p>
            <a:r>
              <a:rPr sz="1400">
                <a:solidFill>
                  <a:srgbClr val="5A5C70"/>
                </a:solidFill>
                <a:latin typeface="Calibri"/>
              </a:rPr>
              <a:t>© 2026 Competence Collective. Lesson text and teaching materials CC BY-NC 4.0. The Hackles name, logos, characters and artwork are not covered by that license: print and share them unaltered for classroom and family use; any other use needs written permission. [VERIFY with counsel]</a:t>
            </a:r>
          </a:p>
        </p:txBody>
      </p:sp>
      <p:sp>
        <p:nvSpPr>
          <p:cNvPr id="5" name="Rectangle 4" descr="Decorative orange rule under the slide title."/>
          <p:cNvSpPr/>
          <p:nvPr/>
        </p:nvSpPr>
        <p:spPr>
          <a:xfrm>
            <a:off x="548640" y="324612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Learning outcomes this week</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CLO 2: Demonstrate and explain basic personal and classroom security habits (unique passphrases or passkeys, 2-step verification, phishing recognition, updates, backups, privacy settings) using fake data only, and say each one in words suited to a learner's age.</a:t>
            </a:r>
          </a:p>
          <a:p>
            <a:pPr>
              <a:spcAft>
                <a:spcPts val="800"/>
              </a:spcAft>
            </a:pPr>
            <a:r>
              <a:rPr sz="2600">
                <a:solidFill>
                  <a:srgbClr val="2B2D42"/>
                </a:solidFill>
                <a:latin typeface="Calibri"/>
              </a:rPr>
              <a:t>CLO 9: Apply legal and policy frameworks (mandated reporting, state instruction mandates, CIPA, FERPA, COPPA, PPRA) to classroom decisions, mark what is unverified, and know when to ask counsel.</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Agenda (3 hours)</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0:00  Opening (10 min)</a:t>
            </a:r>
          </a:p>
          <a:p>
            <a:pPr>
              <a:spcAft>
                <a:spcPts val="800"/>
              </a:spcAft>
            </a:pPr>
            <a:r>
              <a:rPr sz="2600">
                <a:solidFill>
                  <a:srgbClr val="2B2D42"/>
                </a:solidFill>
                <a:latin typeface="Calibri"/>
              </a:rPr>
              <a:t>0:10  Fake Phish Derby (with the SPOT and FLAGS card) (35 min)</a:t>
            </a:r>
          </a:p>
          <a:p>
            <a:pPr>
              <a:spcAft>
                <a:spcPts val="800"/>
              </a:spcAft>
            </a:pPr>
            <a:r>
              <a:rPr sz="2600">
                <a:solidFill>
                  <a:srgbClr val="2B2D42"/>
                </a:solidFill>
                <a:latin typeface="Calibri"/>
              </a:rPr>
              <a:t>0:45  Concepts Lab Demo 3: Anatomy of a Phish (25 min)</a:t>
            </a:r>
          </a:p>
          <a:p>
            <a:pPr>
              <a:spcAft>
                <a:spcPts val="800"/>
              </a:spcAft>
            </a:pPr>
            <a:r>
              <a:rPr sz="2600">
                <a:solidFill>
                  <a:srgbClr val="2B2D42"/>
                </a:solidFill>
                <a:latin typeface="Calibri"/>
              </a:rPr>
              <a:t>1:10  Break (10 min)</a:t>
            </a:r>
          </a:p>
          <a:p>
            <a:pPr>
              <a:spcAft>
                <a:spcPts val="800"/>
              </a:spcAft>
            </a:pPr>
            <a:r>
              <a:rPr sz="2600">
                <a:solidFill>
                  <a:srgbClr val="2B2D42"/>
                </a:solidFill>
                <a:latin typeface="Calibri"/>
              </a:rPr>
              <a:t>1:20  Concepts Lab Demo 8: Social Engineering Defense (30 min)</a:t>
            </a:r>
          </a:p>
          <a:p>
            <a:pPr>
              <a:spcAft>
                <a:spcPts val="800"/>
              </a:spcAft>
            </a:pPr>
            <a:r>
              <a:rPr sz="2600">
                <a:solidFill>
                  <a:srgbClr val="2B2D42"/>
                </a:solidFill>
                <a:latin typeface="Calibri"/>
              </a:rPr>
              <a:t>1:50  Concepts Lab Demo 9: Footprints and the Mosaic (30 min)</a:t>
            </a:r>
          </a:p>
          <a:p>
            <a:pPr>
              <a:spcAft>
                <a:spcPts val="800"/>
              </a:spcAft>
            </a:pPr>
            <a:r>
              <a:rPr sz="2600">
                <a:solidFill>
                  <a:srgbClr val="2B2D42"/>
                </a:solidFill>
                <a:latin typeface="Calibri"/>
              </a:rPr>
              <a:t>2:20  Teachers and student data (15 min)</a:t>
            </a:r>
          </a:p>
          <a:p>
            <a:pPr>
              <a:spcAft>
                <a:spcPts val="800"/>
              </a:spcAft>
            </a:pPr>
            <a:r>
              <a:rPr sz="2600">
                <a:solidFill>
                  <a:srgbClr val="2B2D42"/>
                </a:solidFill>
                <a:latin typeface="Calibri"/>
              </a:rPr>
              <a:t>2:35  Specialist corner (optional stations) (15 min)</a:t>
            </a:r>
          </a:p>
          <a:p>
            <a:pPr>
              <a:spcAft>
                <a:spcPts val="800"/>
              </a:spcAft>
            </a:pPr>
            <a:r>
              <a:rPr sz="2600">
                <a:solidFill>
                  <a:srgbClr val="2B2D42"/>
                </a:solidFill>
                <a:latin typeface="Calibri"/>
              </a:rPr>
              <a:t>2:50  Closing (10 min)</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The five hackles-raisers</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Urgency</a:t>
            </a:r>
          </a:p>
          <a:p>
            <a:pPr>
              <a:spcAft>
                <a:spcPts val="800"/>
              </a:spcAft>
            </a:pPr>
            <a:r>
              <a:rPr sz="2600">
                <a:solidFill>
                  <a:srgbClr val="2B2D42"/>
                </a:solidFill>
                <a:latin typeface="Calibri"/>
              </a:rPr>
              <a:t>Secrecy</a:t>
            </a:r>
          </a:p>
          <a:p>
            <a:pPr>
              <a:spcAft>
                <a:spcPts val="800"/>
              </a:spcAft>
            </a:pPr>
            <a:r>
              <a:rPr sz="2600">
                <a:solidFill>
                  <a:srgbClr val="2B2D42"/>
                </a:solidFill>
                <a:latin typeface="Calibri"/>
              </a:rPr>
              <a:t>Too good to be true</a:t>
            </a:r>
          </a:p>
          <a:p>
            <a:pPr>
              <a:spcAft>
                <a:spcPts val="800"/>
              </a:spcAft>
            </a:pPr>
            <a:r>
              <a:rPr sz="2600">
                <a:solidFill>
                  <a:srgbClr val="2B2D42"/>
                </a:solidFill>
                <a:latin typeface="Calibri"/>
              </a:rPr>
              <a:t>The ask: a password, a code, a payment or a click</a:t>
            </a:r>
          </a:p>
          <a:p>
            <a:pPr>
              <a:spcAft>
                <a:spcPts val="800"/>
              </a:spcAft>
            </a:pPr>
            <a:r>
              <a:rPr sz="2600">
                <a:solidFill>
                  <a:srgbClr val="2B2D42"/>
                </a:solidFill>
                <a:latin typeface="Calibri"/>
              </a:rPr>
              <a:t>Does not add up: odd sender, mismatch</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The Own-Door rule</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Do not use the link, number or contact in the message</a:t>
            </a:r>
          </a:p>
          <a:p>
            <a:pPr>
              <a:spcAft>
                <a:spcPts val="800"/>
              </a:spcAft>
            </a:pPr>
            <a:r>
              <a:rPr sz="2600">
                <a:solidFill>
                  <a:srgbClr val="2B2D42"/>
                </a:solidFill>
                <a:latin typeface="Calibri"/>
              </a:rPr>
              <a:t>Open the app or site yourself, call a number you already have, or ask in person</a:t>
            </a:r>
          </a:p>
          <a:p>
            <a:pPr>
              <a:spcAft>
                <a:spcPts val="800"/>
              </a:spcAft>
            </a:pPr>
            <a:r>
              <a:rPr sz="2600">
                <a:solidFill>
                  <a:srgbClr val="2B2D42"/>
                </a:solidFill>
                <a:latin typeface="Calibri"/>
              </a:rPr>
              <a:t>If you already clicked: stop, tell someone, change the password from a safe device</a:t>
            </a:r>
          </a:p>
          <a:p>
            <a:pPr>
              <a:spcAft>
                <a:spcPts val="800"/>
              </a:spcAft>
            </a:pPr>
            <a:r>
              <a:rPr sz="2600">
                <a:solidFill>
                  <a:srgbClr val="2B2D42"/>
                </a:solidFill>
                <a:latin typeface="Calibri"/>
              </a:rPr>
              <a:t>An oops is not a disaster</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Social engineering attacks people</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Helpfulness, respect for authority, fear and trust are the levers</a:t>
            </a:r>
          </a:p>
          <a:p>
            <a:pPr>
              <a:spcAft>
                <a:spcPts val="800"/>
              </a:spcAft>
            </a:pPr>
            <a:r>
              <a:rPr sz="2600">
                <a:solidFill>
                  <a:srgbClr val="2B2D42"/>
                </a:solidFill>
                <a:latin typeface="Calibri"/>
              </a:rPr>
              <a:t>Hang up, look up, call back</a:t>
            </a:r>
          </a:p>
          <a:p>
            <a:pPr>
              <a:spcAft>
                <a:spcPts val="800"/>
              </a:spcAft>
            </a:pPr>
            <a:r>
              <a:rPr sz="2600">
                <a:solidFill>
                  <a:srgbClr val="2B2D42"/>
                </a:solidFill>
                <a:latin typeface="Calibri"/>
              </a:rPr>
              <a:t>A family code word for urgent requests</a:t>
            </a:r>
          </a:p>
          <a:p>
            <a:pPr>
              <a:spcAft>
                <a:spcPts val="800"/>
              </a:spcAft>
            </a:pPr>
            <a:r>
              <a:rPr sz="2600">
                <a:solidFill>
                  <a:srgbClr val="2B2D42"/>
                </a:solidFill>
                <a:latin typeface="Calibri"/>
              </a:rPr>
              <a:t>Voice cloning: a short clip of audio can be enough [VERIFIED in kit: FTC]</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The mosaic effect</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Small harmless facts combine into a picture</a:t>
            </a:r>
          </a:p>
          <a:p>
            <a:pPr>
              <a:spcAft>
                <a:spcPts val="800"/>
              </a:spcAft>
            </a:pPr>
            <a:r>
              <a:rPr sz="2600">
                <a:solidFill>
                  <a:srgbClr val="2B2D42"/>
                </a:solidFill>
                <a:latin typeface="Calibri"/>
              </a:rPr>
              <a:t>Share less, set it tight, think about where facts travel</a:t>
            </a:r>
          </a:p>
          <a:p>
            <a:pPr>
              <a:spcAft>
                <a:spcPts val="800"/>
              </a:spcAft>
            </a:pPr>
            <a:r>
              <a:rPr sz="2600">
                <a:solidFill>
                  <a:srgbClr val="2B2D42"/>
                </a:solidFill>
                <a:latin typeface="Calibri"/>
              </a:rPr>
              <a:t>Teachers: protect student data and your own accounts</a:t>
            </a:r>
          </a:p>
          <a:p>
            <a:pPr>
              <a:spcAft>
                <a:spcPts val="800"/>
              </a:spcAft>
            </a:pPr>
            <a:r>
              <a:rPr sz="2600">
                <a:solidFill>
                  <a:srgbClr val="2B2D42"/>
                </a:solidFill>
                <a:latin typeface="Calibri"/>
              </a:rPr>
              <a:t>Hackles collects no student accounts and no student data</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Key activities today</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Fake Phish Derby (with the SPOT and FLAGS card) (35 min): Facilitator Kit method (Half-Day Guide, Segment 3; Handout H8 cards D1 to D16, H4 quick....</a:t>
            </a:r>
          </a:p>
          <a:p>
            <a:pPr>
              <a:spcAft>
                <a:spcPts val="800"/>
              </a:spcAft>
            </a:pPr>
            <a:r>
              <a:rPr sz="2600">
                <a:solidFill>
                  <a:srgbClr val="2B2D42"/>
                </a:solidFill>
                <a:latin typeface="Calibri"/>
              </a:rPr>
              <a:t>Concepts Lab Demo 3: Anatomy of a Phish (25 min): Six P's annotation lab with fake specimens.</a:t>
            </a:r>
          </a:p>
          <a:p>
            <a:pPr>
              <a:spcAft>
                <a:spcPts val="800"/>
              </a:spcAft>
            </a:pPr>
            <a:r>
              <a:rPr sz="2600">
                <a:solidFill>
                  <a:srgbClr val="2B2D42"/>
                </a:solidFill>
                <a:latin typeface="Calibri"/>
              </a:rPr>
              <a:t>Concepts Lab Demo 8: Social Engineering Defense (30 min): Verification role-plays with scripted cards: 'Thanks, I'll call you back at the number I....</a:t>
            </a:r>
          </a:p>
          <a:p>
            <a:pPr>
              <a:spcAft>
                <a:spcPts val="800"/>
              </a:spcAft>
            </a:pPr>
            <a:r>
              <a:rPr sz="2600">
                <a:solidFill>
                  <a:srgbClr val="2B2D42"/>
                </a:solidFill>
                <a:latin typeface="Calibri"/>
              </a:rPr>
              <a:t>Concepts Lab Demo 9: Footprints and the Mosaic (30 min): Quinn is a made-up person.</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Due, assigned and field work</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Due this week: Journal entry 2. Demo 2 Part A done.</a:t>
            </a:r>
          </a:p>
          <a:p>
            <a:pPr>
              <a:spcAft>
                <a:spcPts val="800"/>
              </a:spcAft>
            </a:pPr>
            <a:r>
              <a:rPr sz="2600">
                <a:solidFill>
                  <a:srgbClr val="2B2D42"/>
                </a:solidFill>
                <a:latin typeface="Calibri"/>
              </a:rPr>
              <a:t>Assigned: Journal entry 3. Module 2 self-check (covers Weeks 2 and 3; due Week 4). Module 3 reading. Prepare one Curiosity Interview plan for Week 4 (adults only unless your placement approves).</a:t>
            </a:r>
          </a:p>
          <a:p>
            <a:pPr>
              <a:spcAft>
                <a:spcPts val="800"/>
              </a:spcAft>
            </a:pPr>
            <a:r>
              <a:rPr sz="2600">
                <a:solidFill>
                  <a:srgbClr val="2B2D42"/>
                </a:solidFill>
                <a:latin typeface="Calibri"/>
              </a:rPr>
              <a:t>Field tie-in: Field office confirms placement site and mentor teacher. In-service teachers: identify the counselor and the reporting contact at your school (you will need both in Week 8).</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548640" y="365760"/>
            <a:ext cx="11064240" cy="914400"/>
          </a:xfrm>
        </p:spPr>
        <p:txBody>
          <a:bodyPr wrap="square" anchor="b"/>
          <a:lstStyle/>
          <a:p>
            <a:pPr algn="l"/>
            <a:r>
              <a:rPr sz="3600" b="1">
                <a:solidFill>
                  <a:srgbClr val="2B2D42"/>
                </a:solidFill>
                <a:latin typeface="Calibri"/>
              </a:rPr>
              <a:t>Close and open door</a:t>
            </a:r>
          </a:p>
        </p:txBody>
      </p:sp>
      <p:sp>
        <p:nvSpPr>
          <p:cNvPr id="3" name="Content Placeholder 2"/>
          <p:cNvSpPr>
            <a:spLocks noGrp="1"/>
          </p:cNvSpPr>
          <p:nvPr>
            <p:ph idx="1"/>
          </p:nvPr>
        </p:nvSpPr>
        <p:spPr>
          <a:xfrm>
            <a:off x="548640" y="1600200"/>
            <a:ext cx="11064240" cy="4572000"/>
          </a:xfrm>
        </p:spPr>
        <p:txBody>
          <a:bodyPr wrap="square"/>
          <a:lstStyle/>
          <a:p>
            <a:pPr>
              <a:spcAft>
                <a:spcPts val="800"/>
              </a:spcAft>
            </a:pPr>
            <a:r>
              <a:rPr sz="2600">
                <a:solidFill>
                  <a:srgbClr val="2B2D42"/>
                </a:solidFill>
                <a:latin typeface="Calibri"/>
              </a:rPr>
              <a:t>Exit ticket: one sentence about what you will try this week.</a:t>
            </a:r>
          </a:p>
          <a:p>
            <a:pPr>
              <a:spcAft>
                <a:spcPts val="800"/>
              </a:spcAft>
            </a:pPr>
            <a:r>
              <a:rPr sz="2600">
                <a:solidFill>
                  <a:srgbClr val="2B2D42"/>
                </a:solidFill>
                <a:latin typeface="Calibri"/>
              </a:rPr>
              <a:t>A false alarm is fine. It is never your fault. You will not be in trouble for telling.</a:t>
            </a:r>
          </a:p>
          <a:p>
            <a:pPr>
              <a:spcAft>
                <a:spcPts val="800"/>
              </a:spcAft>
            </a:pPr>
            <a:r>
              <a:rPr sz="2600">
                <a:solidFill>
                  <a:srgbClr val="2B2D42"/>
                </a:solidFill>
                <a:latin typeface="Calibri"/>
              </a:rPr>
              <a:t>If anything today made you think of something, talk to your instructor or the counselor partner.</a:t>
            </a:r>
          </a:p>
          <a:p>
            <a:pPr>
              <a:spcAft>
                <a:spcPts val="800"/>
              </a:spcAft>
            </a:pPr>
            <a:r>
              <a:rPr sz="2600">
                <a:solidFill>
                  <a:srgbClr val="2B2D42"/>
                </a:solidFill>
                <a:latin typeface="Calibri"/>
              </a:rPr>
              <a:t>Next week: How Young People Really Live Online</a:t>
            </a:r>
          </a:p>
        </p:txBody>
      </p:sp>
      <p:sp>
        <p:nvSpPr>
          <p:cNvPr id="4" name="Rectangle 3" descr="Decorative orange rule under the slide title."/>
          <p:cNvSpPr/>
          <p:nvPr/>
        </p:nvSpPr>
        <p:spPr>
          <a:xfrm>
            <a:off x="548640" y="1325880"/>
            <a:ext cx="1463040" cy="54000"/>
          </a:xfrm>
          <a:prstGeom prst="rect">
            <a:avLst/>
          </a:prstGeom>
          <a:solidFill>
            <a:srgbClr val="FF8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Footer with copyright and license notice."/>
          <p:cNvSpPr txBox="1"/>
          <p:nvPr/>
        </p:nvSpPr>
        <p:spPr>
          <a:xfrm>
            <a:off x="548640" y="6355080"/>
            <a:ext cx="10424160" cy="320040"/>
          </a:xfrm>
          <a:prstGeom prst="rect">
            <a:avLst/>
          </a:prstGeom>
          <a:noFill/>
        </p:spPr>
        <p:txBody>
          <a:bodyPr wrap="none">
            <a:spAutoFit/>
          </a:bodyPr>
          <a:lstStyle/>
          <a:p>
            <a:r>
              <a:rPr sz="1200">
                <a:solidFill>
                  <a:srgbClr val="5A5C70"/>
                </a:solidFill>
                <a:latin typeface="Calibri"/>
              </a:rPr>
              <a:t>© 2026 Competence Collective. Lesson text CC BY-NC 4.0. Hackles name, logos and art not covered. [VERIFY with counsel]</a:t>
            </a:r>
          </a:p>
        </p:txBody>
      </p:sp>
      <p:sp>
        <p:nvSpPr>
          <p:cNvPr id="6" name="TextBox 5" descr="Slide number."/>
          <p:cNvSpPr txBox="1"/>
          <p:nvPr/>
        </p:nvSpPr>
        <p:spPr>
          <a:xfrm>
            <a:off x="10972800" y="6355080"/>
            <a:ext cx="731520" cy="320040"/>
          </a:xfrm>
          <a:prstGeom prst="rect">
            <a:avLst/>
          </a:prstGeom>
          <a:noFill/>
        </p:spPr>
        <p:txBody>
          <a:bodyPr wrap="none">
            <a:spAutoFit/>
          </a:bodyPr>
          <a:lstStyle/>
          <a:p>
            <a:pPr algn="r"/>
            <a:r>
              <a:rPr sz="1200">
                <a:solidFill>
                  <a:srgbClr val="5A5C70"/>
                </a:solidFill>
                <a:latin typeface="Calibr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3: The Cybersecurity You Need II: Phishing, Social Engineering and Privacy</dc:title>
  <dc:subject>Teaching Digital Safety and Cybersecurity in K-12</dc:subject>
  <dc:creator>Competence Collective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