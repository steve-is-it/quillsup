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Start with the group agreements and the routine: Hackles up? Pause. Check. Tell. This deck is a plain outline. Adapt the words, keep the structure. No student data appears anywhere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ask what a learner could show by the end of the session. Each outcome maps to an Academy competency (A to F), InTASC and ISTE Educator standards [VERIFY codes] in the syllabus.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for this week. Keep the tone steady. Some students arrive anxious about the topic and some arrive over-confident. The Honesty Map lets both be honest in private. Do not ask anyone to share personal experiences. Statistics: use only those in the Module 1 Calm Facts and mark the rest [VERIFY]. Remind students that most young people use technology without serious harm, and that the evidence base has gaps (see the research folder evidence brief).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four hand signals as you go: Hackles Up (hand brushed up the back of the neck), Pause Palm, Check Eyes, Tell Wave. Trust your hackles never means you must always be right. The three promises go on the board all term.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shape, not the scare. Ask: which of the four features shows up in each family? The pattern outlasts any app. Do not use graphic examples. Sextortion is described as a threat after a picture is shared, and every part of it is the fault of the person making the threat.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of reports and survey shares are different kinds of numbers. Most young people are fine most of the time; the serious cases are why we teach. Quote the primary source and check the wording. The kit removed a percent-rise figure it could not confirm: give counts, not a percentage.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 of the best evidence comes from an adjacent field, school-based abuse prevention. Say so plainly. Do not say fear appeals are proven to backfire in online safety. Finkelhor and colleagues (2021) is the central review [VERIFY citation].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to the lifeguard analogy from Module 1: she teaches strokes and rescues, not drowning.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hand signals: Hackles Up, Pause Palm, Check Eyes, Tell Wave. Trust your hackles never means you must always be right.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instructions are in the Weekly Plans document. Concepts Lab: Concepts Lab Demo 1 Try This Now only (full Demo 1 is Week 2). Facilitator Kit method: Gut-Check Line-Up (Half-Day Workshop Guide, Segment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LMS module for the exact items. Remind candidates that no student names, work, passwords or incident details go into any assignment. Quiz mastery is 8 of 10 with a retake.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calmly: one breath together. Stay for ten minutes for questions. Never leave a candidate who seems distressed alone; follow the counselor partner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ctrTitle"/>
          </p:nvPr>
        </p:nvSpPr>
        <p:spPr>
          <a:xfrm>
            <a:off x="548640" y="1188720"/>
            <a:ext cx="11064240" cy="2011680"/>
          </a:xfrm>
        </p:spPr>
        <p:txBody>
          <a:bodyPr wrap="square" anchor="b"/>
          <a:lstStyle/>
          <a:p>
            <a:pPr algn="l"/>
            <a:r>
              <a:rPr sz="3400" b="1">
                <a:solidFill>
                  <a:srgbClr val="2B2D42"/>
                </a:solidFill>
                <a:latin typeface="Calibri"/>
              </a:rPr>
              <a:t>Week 1: Why This Matters: The Risks, the Evidence and the Hackles Idea</a:t>
            </a:r>
          </a:p>
        </p:txBody>
      </p:sp>
      <p:sp>
        <p:nvSpPr>
          <p:cNvPr id="3" name="Subtitle 2"/>
          <p:cNvSpPr>
            <a:spLocks noGrp="1"/>
          </p:cNvSpPr>
          <p:nvPr>
            <p:ph type="subTitle" idx="1"/>
          </p:nvPr>
        </p:nvSpPr>
        <p:spPr>
          <a:xfrm>
            <a:off x="548640" y="3474720"/>
            <a:ext cx="11064240" cy="1280160"/>
          </a:xfrm>
        </p:spPr>
        <p:txBody>
          <a:bodyPr wrap="square"/>
          <a:lstStyle/>
          <a:p>
            <a:pPr algn="l"/>
            <a:r>
              <a:rPr sz="2400">
                <a:solidFill>
                  <a:srgbClr val="2F6F73"/>
                </a:solidFill>
                <a:latin typeface="Calibri"/>
              </a:rPr>
              <a:t>Teaching Digital Safety and Cybersecurity in K-12 | Hackles College Edition | Academy module M1</a:t>
            </a:r>
          </a:p>
        </p:txBody>
      </p:sp>
      <p:sp>
        <p:nvSpPr>
          <p:cNvPr id="4" name="TextBox 3" descr="Copyright and license notice for these slides."/>
          <p:cNvSpPr txBox="1"/>
          <p:nvPr/>
        </p:nvSpPr>
        <p:spPr>
          <a:xfrm>
            <a:off x="548640" y="5120640"/>
            <a:ext cx="11064240" cy="1097280"/>
          </a:xfrm>
          <a:prstGeom prst="rect">
            <a:avLst/>
          </a:prstGeom>
          <a:noFill/>
        </p:spPr>
        <p:txBody>
          <a:bodyPr wrap="square">
            <a:spAutoFit/>
          </a:bodyPr>
          <a:lstStyle/>
          <a:p>
            <a:r>
              <a:rPr sz="1400">
                <a:solidFill>
                  <a:srgbClr val="5A5C70"/>
                </a:solidFill>
                <a:latin typeface="Calibri"/>
              </a:rPr>
              <a:t>©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5" name="Rectangle 4" descr="Decorative orange rule under the slide title."/>
          <p:cNvSpPr/>
          <p:nvPr/>
        </p:nvSpPr>
        <p:spPr>
          <a:xfrm>
            <a:off x="548640" y="324612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Learning outcomes this week</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CLO 1: Describe the main online risks facing K-12 learners in calm, accurate language, and judge a statistic or claim by tracing it to its primary source and saying what it can and cannot show.</a:t>
            </a:r>
          </a:p>
          <a:p>
            <a:pPr>
              <a:spcAft>
                <a:spcPts val="800"/>
              </a:spcAft>
            </a:pPr>
            <a:r>
              <a:rPr sz="2600">
                <a:solidFill>
                  <a:srgbClr val="2B2D42"/>
                </a:solidFill>
                <a:latin typeface="Calibri"/>
              </a:rPr>
              <a:t>CLO 10: Reflect on your own practice, wellbeing and growth edges, and set a 30-60-90 plan.</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Agenda (3 hours)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200">
                <a:solidFill>
                  <a:srgbClr val="2B2D42"/>
                </a:solidFill>
                <a:latin typeface="Calibri"/>
              </a:rPr>
              <a:t>0:00  Opening (10 min)</a:t>
            </a:r>
          </a:p>
          <a:p>
            <a:pPr>
              <a:spcAft>
                <a:spcPts val="800"/>
              </a:spcAft>
            </a:pPr>
            <a:r>
              <a:rPr sz="2200">
                <a:solidFill>
                  <a:srgbClr val="2B2D42"/>
                </a:solidFill>
                <a:latin typeface="Calibri"/>
              </a:rPr>
              <a:t>0:10  Pre-Course Confidence Survey (15 min)</a:t>
            </a:r>
          </a:p>
          <a:p>
            <a:pPr>
              <a:spcAft>
                <a:spcPts val="800"/>
              </a:spcAft>
            </a:pPr>
            <a:r>
              <a:rPr sz="2200">
                <a:solidFill>
                  <a:srgbClr val="2B2D42"/>
                </a:solidFill>
                <a:latin typeface="Calibri"/>
              </a:rPr>
              <a:t>0:25  Gut-Check Line-Up (20 min)</a:t>
            </a:r>
          </a:p>
          <a:p>
            <a:pPr>
              <a:spcAft>
                <a:spcPts val="800"/>
              </a:spcAft>
            </a:pPr>
            <a:r>
              <a:rPr sz="2200">
                <a:solidFill>
                  <a:srgbClr val="2B2D42"/>
                </a:solidFill>
                <a:latin typeface="Calibri"/>
              </a:rPr>
              <a:t>0:45  Activity 1.1 Honesty Map, then the seven risk families (20 min)</a:t>
            </a:r>
          </a:p>
          <a:p>
            <a:pPr>
              <a:spcAft>
                <a:spcPts val="800"/>
              </a:spcAft>
            </a:pPr>
            <a:r>
              <a:rPr sz="2200">
                <a:solidFill>
                  <a:srgbClr val="2B2D42"/>
                </a:solidFill>
                <a:latin typeface="Calibri"/>
              </a:rPr>
              <a:t>1:05  Break (10 min)</a:t>
            </a:r>
          </a:p>
          <a:p>
            <a:pPr>
              <a:spcAft>
                <a:spcPts val="800"/>
              </a:spcAft>
            </a:pPr>
            <a:r>
              <a:rPr sz="2200">
                <a:solidFill>
                  <a:srgbClr val="2B2D42"/>
                </a:solidFill>
                <a:latin typeface="Calibri"/>
              </a:rPr>
              <a:t>1:15  Activity 1.2 Number Detective (25 min)</a:t>
            </a:r>
          </a:p>
          <a:p>
            <a:pPr>
              <a:spcAft>
                <a:spcPts val="800"/>
              </a:spcAft>
            </a:pPr>
            <a:r>
              <a:rPr sz="2200">
                <a:solidFill>
                  <a:srgbClr val="2B2D42"/>
                </a:solidFill>
                <a:latin typeface="Calibri"/>
              </a:rPr>
              <a:t>1:40  Activity 1.3 Warning vs Skill: the Rewrite Game (25 min)</a:t>
            </a:r>
          </a:p>
          <a:p>
            <a:pPr>
              <a:spcAft>
                <a:spcPts val="800"/>
              </a:spcAft>
            </a:pPr>
            <a:r>
              <a:rPr sz="2200">
                <a:solidFill>
                  <a:srgbClr val="2B2D42"/>
                </a:solidFill>
                <a:latin typeface="Calibri"/>
              </a:rPr>
              <a:t>2:05  Scenario Studio 1.A: 'My principal wants an assembly' (30 min)</a:t>
            </a:r>
          </a:p>
          <a:p>
            <a:pPr>
              <a:spcAft>
                <a:spcPts val="800"/>
              </a:spcAft>
            </a:pPr>
            <a:r>
              <a:rPr sz="2200">
                <a:solidFill>
                  <a:srgbClr val="2B2D42"/>
                </a:solidFill>
                <a:latin typeface="Calibri"/>
              </a:rPr>
              <a:t>2:35  Course map and field expectations (15 min)</a:t>
            </a:r>
          </a:p>
          <a:p>
            <a:pPr>
              <a:spcAft>
                <a:spcPts val="800"/>
              </a:spcAft>
            </a:pPr>
            <a:r>
              <a:rPr sz="2200">
                <a:solidFill>
                  <a:srgbClr val="2B2D42"/>
                </a:solidFill>
                <a:latin typeface="Calibri"/>
              </a:rPr>
              <a:t>2:50  Closing (10 min)</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The Hackles routine</a:t>
            </a:r>
          </a:p>
        </p:txBody>
      </p:sp>
      <p:sp>
        <p:nvSpPr>
          <p:cNvPr id="3" name="Rounded Rectangle 2" descr="Step 1 of 4: Hackles up?. Notice something odd, too good, pushy, secret or scary."/>
          <p:cNvSpPr/>
          <p:nvPr/>
        </p:nvSpPr>
        <p:spPr>
          <a:xfrm>
            <a:off x="548640" y="2011680"/>
            <a:ext cx="2606040" cy="2926080"/>
          </a:xfrm>
          <a:prstGeom prst="roundRect">
            <a:avLst/>
          </a:prstGeom>
          <a:solidFill>
            <a:srgbClr val="F2E9D2"/>
          </a:solidFill>
          <a:ln>
            <a:solidFill>
              <a:srgbClr val="2B2D4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2800" b="1">
                <a:solidFill>
                  <a:srgbClr val="2B2D42"/>
                </a:solidFill>
                <a:latin typeface="Calibri"/>
              </a:rPr>
              <a:t>1. Hackles up?</a:t>
            </a:r>
          </a:p>
          <a:p>
            <a:r>
              <a:rPr sz="2200">
                <a:solidFill>
                  <a:srgbClr val="2B2D42"/>
                </a:solidFill>
                <a:latin typeface="Calibri"/>
              </a:rPr>
              <a:t>Notice something odd, too good, pushy, secret or scary</a:t>
            </a:r>
          </a:p>
        </p:txBody>
      </p:sp>
      <p:sp>
        <p:nvSpPr>
          <p:cNvPr id="4" name="Rounded Rectangle 3" descr="Step 2 of 4: Pause. Do nothing yet."/>
          <p:cNvSpPr/>
          <p:nvPr/>
        </p:nvSpPr>
        <p:spPr>
          <a:xfrm>
            <a:off x="3383280" y="2011680"/>
            <a:ext cx="2606040" cy="2926080"/>
          </a:xfrm>
          <a:prstGeom prst="roundRect">
            <a:avLst/>
          </a:prstGeom>
          <a:solidFill>
            <a:srgbClr val="F2E9D2"/>
          </a:solidFill>
          <a:ln>
            <a:solidFill>
              <a:srgbClr val="2B2D4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2800" b="1">
                <a:solidFill>
                  <a:srgbClr val="2B2D42"/>
                </a:solidFill>
                <a:latin typeface="Calibri"/>
              </a:rPr>
              <a:t>2. Pause</a:t>
            </a:r>
          </a:p>
          <a:p>
            <a:r>
              <a:rPr sz="2200">
                <a:solidFill>
                  <a:srgbClr val="2B2D42"/>
                </a:solidFill>
                <a:latin typeface="Calibri"/>
              </a:rPr>
              <a:t>Do nothing yet</a:t>
            </a:r>
          </a:p>
        </p:txBody>
      </p:sp>
      <p:sp>
        <p:nvSpPr>
          <p:cNvPr id="5" name="Rounded Rectangle 4" descr="Step 3 of 4: Check. Is it real? Who is it from? What do they want?."/>
          <p:cNvSpPr/>
          <p:nvPr/>
        </p:nvSpPr>
        <p:spPr>
          <a:xfrm>
            <a:off x="6217920" y="2011680"/>
            <a:ext cx="2606040" cy="2926080"/>
          </a:xfrm>
          <a:prstGeom prst="roundRect">
            <a:avLst/>
          </a:prstGeom>
          <a:solidFill>
            <a:srgbClr val="F2E9D2"/>
          </a:solidFill>
          <a:ln>
            <a:solidFill>
              <a:srgbClr val="2B2D4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2800" b="1">
                <a:solidFill>
                  <a:srgbClr val="2B2D42"/>
                </a:solidFill>
                <a:latin typeface="Calibri"/>
              </a:rPr>
              <a:t>3. Check</a:t>
            </a:r>
          </a:p>
          <a:p>
            <a:r>
              <a:rPr sz="2200">
                <a:solidFill>
                  <a:srgbClr val="2B2D42"/>
                </a:solidFill>
                <a:latin typeface="Calibri"/>
              </a:rPr>
              <a:t>Is it real? Who is it from? What do they want?</a:t>
            </a:r>
          </a:p>
        </p:txBody>
      </p:sp>
      <p:sp>
        <p:nvSpPr>
          <p:cNvPr id="6" name="Rounded Rectangle 5" descr="Step 4 of 4: Tell. A trusted adult, every time, no shame."/>
          <p:cNvSpPr/>
          <p:nvPr/>
        </p:nvSpPr>
        <p:spPr>
          <a:xfrm>
            <a:off x="9052560" y="2011680"/>
            <a:ext cx="2606040" cy="2926080"/>
          </a:xfrm>
          <a:prstGeom prst="roundRect">
            <a:avLst/>
          </a:prstGeom>
          <a:solidFill>
            <a:srgbClr val="F2E9D2"/>
          </a:solidFill>
          <a:ln>
            <a:solidFill>
              <a:srgbClr val="2B2D4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2800" b="1">
                <a:solidFill>
                  <a:srgbClr val="2B2D42"/>
                </a:solidFill>
                <a:latin typeface="Calibri"/>
              </a:rPr>
              <a:t>4. Tell</a:t>
            </a:r>
          </a:p>
          <a:p>
            <a:r>
              <a:rPr sz="2200">
                <a:solidFill>
                  <a:srgbClr val="2B2D42"/>
                </a:solidFill>
                <a:latin typeface="Calibri"/>
              </a:rPr>
              <a:t>A trusted adult, every time, no shame</a:t>
            </a:r>
          </a:p>
        </p:txBody>
      </p:sp>
      <p:sp>
        <p:nvSpPr>
          <p:cNvPr id="7" name="TextBox 6" descr="The three promises of Hackles."/>
          <p:cNvSpPr txBox="1"/>
          <p:nvPr/>
        </p:nvSpPr>
        <p:spPr>
          <a:xfrm>
            <a:off x="548640" y="5212080"/>
            <a:ext cx="11064240" cy="822960"/>
          </a:xfrm>
          <a:prstGeom prst="rect">
            <a:avLst/>
          </a:prstGeom>
          <a:noFill/>
        </p:spPr>
        <p:txBody>
          <a:bodyPr wrap="square">
            <a:spAutoFit/>
          </a:bodyPr>
          <a:lstStyle/>
          <a:p>
            <a:r>
              <a:rPr sz="2600" b="1">
                <a:solidFill>
                  <a:srgbClr val="A8400A"/>
                </a:solidFill>
                <a:latin typeface="Calibri"/>
              </a:rPr>
              <a:t>A false alarm is fine. It is never your fault. You will not be in trouble for telling.</a:t>
            </a:r>
          </a:p>
        </p:txBody>
      </p:sp>
      <p:sp>
        <p:nvSpPr>
          <p:cNvPr id="8" name="Rectangle 7"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10" name="TextBox 9"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Seven risk families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Scams and tricks; taken-over accounts; unkind behavior online</a:t>
            </a:r>
          </a:p>
          <a:p>
            <a:pPr>
              <a:spcAft>
                <a:spcPts val="800"/>
              </a:spcAft>
            </a:pPr>
            <a:r>
              <a:rPr sz="2600">
                <a:solidFill>
                  <a:srgbClr val="2B2D42"/>
                </a:solidFill>
                <a:latin typeface="Calibri"/>
              </a:rPr>
              <a:t>Pressure from someone met online; sextortion</a:t>
            </a:r>
          </a:p>
          <a:p>
            <a:pPr>
              <a:spcAft>
                <a:spcPts val="800"/>
              </a:spcAft>
            </a:pPr>
            <a:r>
              <a:rPr sz="2600">
                <a:solidFill>
                  <a:srgbClr val="2B2D42"/>
                </a:solidFill>
                <a:latin typeface="Calibri"/>
              </a:rPr>
              <a:t>Fake pictures, videos and voices; chatbots that act like friends</a:t>
            </a:r>
          </a:p>
          <a:p>
            <a:pPr>
              <a:spcAft>
                <a:spcPts val="800"/>
              </a:spcAft>
            </a:pPr>
            <a:r>
              <a:rPr sz="2600">
                <a:solidFill>
                  <a:srgbClr val="2B2D42"/>
                </a:solidFill>
                <a:latin typeface="Calibri"/>
              </a:rPr>
              <a:t>The thread: pressure, secrecy, a request, a move somewhere more private</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Calm Facts: hold numbers lightly</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NCMEC: more than 50,000 reports of financially motivated sextortion in 2025, up from more than 36,000 in 2024 [VERIFIED in kit]</a:t>
            </a:r>
          </a:p>
          <a:p>
            <a:pPr>
              <a:spcAft>
                <a:spcPts val="800"/>
              </a:spcAft>
            </a:pPr>
            <a:r>
              <a:rPr sz="2600">
                <a:solidFill>
                  <a:srgbClr val="2B2D42"/>
                </a:solidFill>
                <a:latin typeface="Calibri"/>
              </a:rPr>
              <a:t>Thorn 2025: about 1 in 5 young people aged 13 to 20 reported a sextortion experience [VERIFIED in kit]</a:t>
            </a:r>
          </a:p>
          <a:p>
            <a:pPr>
              <a:spcAft>
                <a:spcPts val="800"/>
              </a:spcAft>
            </a:pPr>
            <a:r>
              <a:rPr sz="2600">
                <a:solidFill>
                  <a:srgbClr val="2B2D42"/>
                </a:solidFill>
                <a:latin typeface="Calibri"/>
              </a:rPr>
              <a:t>Pew, Dec 2025: 64 percent of US teens say they use AI chatbots [VERIFIED in kit]</a:t>
            </a:r>
          </a:p>
          <a:p>
            <a:pPr>
              <a:spcAft>
                <a:spcPts val="800"/>
              </a:spcAft>
            </a:pPr>
            <a:r>
              <a:rPr sz="2600">
                <a:solidFill>
                  <a:srgbClr val="2B2D42"/>
                </a:solidFill>
                <a:latin typeface="Calibri"/>
              </a:rPr>
              <a:t>Many children do not tell: Disrupting Harm figures come from 13 countries, not the US [VERIFY]</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What the research says works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Active, skill-based, repeated lessons: better supported</a:t>
            </a:r>
          </a:p>
          <a:p>
            <a:pPr>
              <a:spcAft>
                <a:spcPts val="800"/>
              </a:spcAft>
            </a:pPr>
            <a:r>
              <a:rPr sz="2600">
                <a:solidFill>
                  <a:srgbClr val="2B2D42"/>
                </a:solidFill>
                <a:latin typeface="Calibri"/>
              </a:rPr>
              <a:t>One-off assemblies and information-only lessons: weak</a:t>
            </a:r>
          </a:p>
          <a:p>
            <a:pPr>
              <a:spcAft>
                <a:spcPts val="800"/>
              </a:spcAft>
            </a:pPr>
            <a:r>
              <a:rPr sz="2600">
                <a:solidFill>
                  <a:srgbClr val="2B2D42"/>
                </a:solidFill>
                <a:latin typeface="Calibri"/>
              </a:rPr>
              <a:t>Fear appeals: evidence mixed; direct online-safety evidence is thin [VERIFY]</a:t>
            </a:r>
          </a:p>
          <a:p>
            <a:pPr>
              <a:spcAft>
                <a:spcPts val="800"/>
              </a:spcAft>
            </a:pPr>
            <a:r>
              <a:rPr sz="2600">
                <a:solidFill>
                  <a:srgbClr val="2B2D42"/>
                </a:solidFill>
                <a:latin typeface="Calibri"/>
              </a:rPr>
              <a:t>No rigorous trial of a modern K-12 sextortion or deepfake curriculum is known to the kit</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Why not just scare them?</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Fear without a skill is just fear</a:t>
            </a:r>
          </a:p>
          <a:p>
            <a:pPr>
              <a:spcAft>
                <a:spcPts val="800"/>
              </a:spcAft>
            </a:pPr>
            <a:r>
              <a:rPr sz="2600">
                <a:solidFill>
                  <a:srgbClr val="2B2D42"/>
                </a:solidFill>
                <a:latin typeface="Calibri"/>
              </a:rPr>
              <a:t>Fear makes telling harder; shame is the biggest barrier</a:t>
            </a:r>
          </a:p>
          <a:p>
            <a:pPr>
              <a:spcAft>
                <a:spcPts val="800"/>
              </a:spcAft>
            </a:pPr>
            <a:r>
              <a:rPr sz="2600">
                <a:solidFill>
                  <a:srgbClr val="2B2D42"/>
                </a:solidFill>
                <a:latin typeface="Calibri"/>
              </a:rPr>
              <a:t>Fear fades; practice sticks</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Hackles up? Pause. Check. Tell.</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Hackles up: notice something odd, too good, pushy, secret or scary</a:t>
            </a:r>
          </a:p>
          <a:p>
            <a:pPr>
              <a:spcAft>
                <a:spcPts val="800"/>
              </a:spcAft>
            </a:pPr>
            <a:r>
              <a:rPr sz="2600">
                <a:solidFill>
                  <a:srgbClr val="2B2D42"/>
                </a:solidFill>
                <a:latin typeface="Calibri"/>
              </a:rPr>
              <a:t>Pause: do nothing yet</a:t>
            </a:r>
          </a:p>
          <a:p>
            <a:pPr>
              <a:spcAft>
                <a:spcPts val="800"/>
              </a:spcAft>
            </a:pPr>
            <a:r>
              <a:rPr sz="2600">
                <a:solidFill>
                  <a:srgbClr val="2B2D42"/>
                </a:solidFill>
                <a:latin typeface="Calibri"/>
              </a:rPr>
              <a:t>Check: is it real, who is it from, what do they want</a:t>
            </a:r>
          </a:p>
          <a:p>
            <a:pPr>
              <a:spcAft>
                <a:spcPts val="800"/>
              </a:spcAft>
            </a:pPr>
            <a:r>
              <a:rPr sz="2600">
                <a:solidFill>
                  <a:srgbClr val="2B2D42"/>
                </a:solidFill>
                <a:latin typeface="Calibri"/>
              </a:rPr>
              <a:t>Tell: a trusted adult, every time, no shame</a:t>
            </a:r>
          </a:p>
          <a:p>
            <a:pPr>
              <a:spcAft>
                <a:spcPts val="800"/>
              </a:spcAft>
            </a:pPr>
            <a:r>
              <a:rPr sz="2600">
                <a:solidFill>
                  <a:srgbClr val="2B2D42"/>
                </a:solidFill>
                <a:latin typeface="Calibri"/>
              </a:rPr>
              <a:t>A false alarm is fine. It is never your fault. You will not be in trouble for telling.</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Key activities today</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400">
                <a:solidFill>
                  <a:srgbClr val="2B2D42"/>
                </a:solidFill>
                <a:latin typeface="Calibri"/>
              </a:rPr>
              <a:t>Gut-Check Line-Up (20 min): Facilitator Kit method (Half-Day Guide, Segment 1): five statements about teaching online....</a:t>
            </a:r>
          </a:p>
          <a:p>
            <a:pPr>
              <a:spcAft>
                <a:spcPts val="800"/>
              </a:spcAft>
            </a:pPr>
            <a:r>
              <a:rPr sz="2400">
                <a:solidFill>
                  <a:srgbClr val="2B2D42"/>
                </a:solidFill>
                <a:latin typeface="Calibri"/>
              </a:rPr>
              <a:t>Activity 1.1 Honesty Map, then the seven risk families (20 min): Academy Activity 1.1 (5 min, private, fold and keep for Week 13).</a:t>
            </a:r>
          </a:p>
          <a:p>
            <a:pPr>
              <a:spcAft>
                <a:spcPts val="800"/>
              </a:spcAft>
            </a:pPr>
            <a:r>
              <a:rPr sz="2400">
                <a:solidFill>
                  <a:srgbClr val="2B2D42"/>
                </a:solidFill>
                <a:latin typeface="Calibri"/>
              </a:rPr>
              <a:t>Activity 1.2 Number Detective (25 min): Pairs trace one statistic to the organization's own page.</a:t>
            </a:r>
          </a:p>
          <a:p>
            <a:pPr>
              <a:spcAft>
                <a:spcPts val="800"/>
              </a:spcAft>
            </a:pPr>
            <a:r>
              <a:rPr sz="2400">
                <a:solidFill>
                  <a:srgbClr val="2B2D42"/>
                </a:solidFill>
                <a:latin typeface="Calibri"/>
              </a:rPr>
              <a:t>Activity 1.3 Warning vs Skill: the Rewrite Game (25 min): Rewrite fear messages as skill messages.</a:t>
            </a:r>
          </a:p>
          <a:p>
            <a:pPr>
              <a:spcAft>
                <a:spcPts val="800"/>
              </a:spcAft>
            </a:pPr>
            <a:r>
              <a:rPr sz="2400">
                <a:solidFill>
                  <a:srgbClr val="2B2D42"/>
                </a:solidFill>
                <a:latin typeface="Calibri"/>
              </a:rPr>
              <a:t>Scenario Studio 1.A: 'My principal wants an assembly' (30 min): Role-play the conversation with the principal in trios (principal, teacher, observer).</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Due, assigned and field work</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Due this week: Start background-check and placement paperwork. Complete the Pre-Course Confidence Survey. Module 1 self-check is due before Week 2 (mastery is 8 of 10; retakes allowed).</a:t>
            </a:r>
          </a:p>
          <a:p>
            <a:pPr>
              <a:spcAft>
                <a:spcPts val="800"/>
              </a:spcAft>
            </a:pPr>
            <a:r>
              <a:rPr sz="2600">
                <a:solidFill>
                  <a:srgbClr val="2B2D42"/>
                </a:solidFill>
                <a:latin typeface="Calibri"/>
              </a:rPr>
              <a:t>Assigned: Reflective Journal entry 1 and Module 1 self-check (both due before Week 2).</a:t>
            </a:r>
          </a:p>
          <a:p>
            <a:pPr>
              <a:spcAft>
                <a:spcPts val="800"/>
              </a:spcAft>
            </a:pPr>
            <a:r>
              <a:rPr sz="2600">
                <a:solidFill>
                  <a:srgbClr val="2B2D42"/>
                </a:solidFill>
                <a:latin typeface="Calibri"/>
              </a:rPr>
              <a:t>Field tie-in: Placement forms submitted. In-service teachers: tell your administrator you are taking this course and that you will deliver two supervised lessons.</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Close and open door</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Exit ticket: one sentence about what you will try this week.</a:t>
            </a:r>
          </a:p>
          <a:p>
            <a:pPr>
              <a:spcAft>
                <a:spcPts val="800"/>
              </a:spcAft>
            </a:pPr>
            <a:r>
              <a:rPr sz="2600">
                <a:solidFill>
                  <a:srgbClr val="2B2D42"/>
                </a:solidFill>
                <a:latin typeface="Calibri"/>
              </a:rPr>
              <a:t>A false alarm is fine. It is never your fault. You will not be in trouble for telling.</a:t>
            </a:r>
          </a:p>
          <a:p>
            <a:pPr>
              <a:spcAft>
                <a:spcPts val="800"/>
              </a:spcAft>
            </a:pPr>
            <a:r>
              <a:rPr sz="2600">
                <a:solidFill>
                  <a:srgbClr val="2B2D42"/>
                </a:solidFill>
                <a:latin typeface="Calibri"/>
              </a:rPr>
              <a:t>If anything today made you think of something, talk to your instructor or the counselor partner.</a:t>
            </a:r>
          </a:p>
          <a:p>
            <a:pPr>
              <a:spcAft>
                <a:spcPts val="800"/>
              </a:spcAft>
            </a:pPr>
            <a:r>
              <a:rPr sz="2600">
                <a:solidFill>
                  <a:srgbClr val="2B2D42"/>
                </a:solidFill>
                <a:latin typeface="Calibri"/>
              </a:rPr>
              <a:t>Next week: The Cybersecurity You Need I: Accounts, Updates and Backups</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Why This Matters: The Risks, the Evidence and the Hackles Idea</dc:title>
  <dc:subject>Teaching Digital Safety and Cybersecurity in K-12</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