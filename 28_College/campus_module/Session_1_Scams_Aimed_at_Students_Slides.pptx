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people and let them settle. Slide text is large and high contrast so it works from the back of the room. Every slide has the script in these notes. (c) 2026 Competence Collective. Lesson text and teaching materials CC BY-NC 4.0. The Hackles name, logos, characters and artwork are not covered by that license: print and share them unaltered for classroom and family use; any other use needs written permission. [VERIFY with counsel]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objectives aloud. Say that the session is practical and that participation is always optional.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**Hackles up? Pause. Check. Tell.** In this module the idea has the same four steps for adults. Hackles up is the noticing step: a prickle that something is too good, too urgent, too secret or just a little off. Pause means nothing has to happen in the next five minutes. Check means confirming through a door you opened yourself, such as a known phone number or the official app. Tell means bringing in a person; a false alarm costs little, and if you were fooled anyway it is never your fault.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Over six sessions we will cover the digital situations that come up for people in college, and today we start with money. I want to say up front that nobody in this room is gullible. People who run these scams do it as a job. They test messages on thousands of people and keep the ones that work.</a:t>
            </a:r>
          </a:p>
          <a:p/>
          <a:p>
            <a:r>
              <a:t>Why students? Think about your first weeks here. You are using a bursar portal, a learning system, a housing office, a financial aid office and maybe a campus job site, many of them for the first time. You get real messages from all of them. A fake one fits right in. Money is tight for many of us, deadlines are real, and a message that says "your classes will be dropped in two hours" sounds plausible because some real deadlines do feel like that.</a:t>
            </a:r>
          </a:p>
          <a:p/>
          <a:p>
            <a:r>
              <a:t>Here is the habit we will use all semester. Hackles up? Pause. Check. Tell. Hackles are what rise on the back of your neck when something feels off. Today I want you to treat that prickle as information. You do not have to be right every time. A false alarm costs you two minutes. Being fooled can cost a semester's budget.</a:t>
            </a:r>
          </a:p>
          <a:p/>
          <a:p>
            <a:r>
              <a:t>Two housekeeping notes. First, take what is useful and pass on anything you would rather not do. Second, if something we cover today has already happened to you, you will not be in trouble here. I will say more at the end about who you can talk to, and about what I can and cannot keep private.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Pattern one, fake jobs and internships. The post is remote, the pay is high for the work, and the interview happens entirely in a chat app. After a quick "hire," you get a check and are told to deposit it and buy equipment from a vendor they name. The check bounces days later and your money is gone. Other versions ask for your Social Security number and bank details for "payroll" before any real paperwork. The rule that protects you: a real employer does not ask you to pay to be hired, and does not send you money to send on to someone else. Check the company through its own website, and ask [CAREER SERVICES] to look at an offer with you. They do this all the time.</a:t>
            </a:r>
          </a:p>
          <a:p/>
          <a:p>
            <a:r>
              <a:t>Pattern two, housing. The listing is a beautiful two-bedroom near campus at half the going rate. The landlord is traveling and cannot show it, but will mail the keys once you send a deposit by a payment app or gift cards. Ask yourself why anyone would need the money before you can see the place. Use [HOUSING OFFICE] listings where you can, tour the unit in person or on a live video call that shows the address, and be wary when the only payment options are ones you cannot reverse.</a:t>
            </a:r>
          </a:p>
          <a:p/>
          <a:p>
            <a:r>
              <a:t>Pattern three, financial aid and tuition. A text arrives that looks like it is from the bursar: pay a balance in two hours or lose your registration. Or a call says your aid refund is ready and asks you to read back a code that was just texted to you. That code is the key to your account, and the caller is the one using it. Real offices have real deadlines, but they do not demand payment by gift card, and they do not ask for the code they just texted you. Go to the portal by typing the address yourself, or call the number printed on the college's website. Also, filling out the federal aid application is free [VERIFY: studentaid.gov], and anyone charging a fee to file it or promising loan forgiveness for a fee deserves a second look [VERIFY].</a:t>
            </a:r>
          </a:p>
          <a:p/>
          <a:p>
            <a:r>
              <a:t>Pattern four, marketplace. Textbooks, tickets, sublets, furniture. The buyer "accidentally" sends too much and asks you to refund the difference. The seller wants "friends and family" payment so there is no protection. The ticket is a screenshot. Use the platform's own payment protections, transfer tickets through the official ticketing app, and meet in a public place or at [CAMPUS SAFE EXCHANGE SPOT, if any].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across those four patterns. The details change but the pressure signals repeat. Hurry: act in two hours. Secrecy: do not tell your roommate or the office. An unusual way to pay: gift cards, crypto, wire, a payment app that will not let you reverse it. An offer that is too good. And borrowed authority: the logo, the name of a real office, an official-sounding title.</a:t>
            </a:r>
          </a:p>
          <a:p/>
          <a:p>
            <a:r>
              <a:t>Now the routine. Hackles up: say to yourself what is off, in words. "They want money before I have seen the apartment." Pause: nothing here has to happen in the next five minutes, and you can say that to a pushy person. For money, I suggest an overnight rule. Check: confirm through a door you opened. That means the official website you typed, the phone number printed on the back of your card or on the college's site, or the office itself. A reply to the same message is not a check, because the sender controls that conversation. Tell: a roommate, [FINANCIAL AID OFFICE], [CAREER SERVICES], campus police at [NON-EMERGENCY NUMBER], and then a report if it was a scam attempt, because reports help other people. In the U.S., fraud goes to reportfraud.ftc.gov, and internet crime can go to ic3.gov [VERIFY]. If your identity information was shared, identitytheft.gov is the FTC's recovery site [VERIFY].</a:t>
            </a:r>
          </a:p>
          <a:p/>
          <a:p>
            <a:r>
              <a:t>If you already paid or shared something, here is the first hour. Call your bank or card issuer using the number on your card, say what happened, and ask what can be done. Timing and protections vary by payment method [VERIFY]. Change passwords on any account that might be affected, starting with email. Keep the messages and receipts. Then tell someone. Shame is the scammer's best friend, because it keeps you quiet while the next student gets the same message. It is not your fault.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Groups of 3 or 4. Each group gets two cards and one worksheet. Roles inside the group, rotating after each card: Reader (reads the card aloud, or passes it to a screen reader), Checker (names the second channel), Recorder (fills the worksheet). Nobody plays the sender of any message. The card is the message. Students respond as themselves, as a friend, or as a neighbor in the dorm.</a:t>
            </a:r>
          </a:p>
          <a:p/>
          <a:p>
            <a:r>
              <a:t>Steps: Reader reads the card. (2 min per card) Group answers three worksheet questions: What raised our hackles? What would we check, and through which door? Who would we tell, and what would we say? Facilitator circulates and listens. Do not hand out the answer key until each group has committed to an answer. Debrief at the end (see Discussion). Reveal the key for any card the room argues about.</a:t>
            </a:r>
          </a:p>
          <a:p/>
          <a:p>
            <a:r>
              <a:t>Timer: 15 minutes. Reveal the key lines on each card only after groups commit. If the room splits on a card, treat that as a gift: say that real messages and fake ones can look the same, and that is why the habit relies on checking, and not on spotting.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Role-play practice: The Second-Channel Call: Pairs. Partner A practices the call to the known number from the college website. Partner B plays the office staff member who answers and helps. Staff always answers kindly and says something real, such as "I can see that message did not come from us, thank you for checking." A uses this script: "I got a text that says it is from your office about a balance. I did not click anything. Can you tell me my actual balance and whether anything is due?" Swap roles. No one plays the sender of the message.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about 8 minutes. Take two or three answers per question, and let people pass. Which pressure signals showed up most often across the cards? Which were easiest to miss? What makes it hard to Pause when a message says you have two hours? What would help? (Take two or three answers.) Where is the second channel on this campus: which phone number, which office, which portal? Does everyone know where [FINANCIAL AID OFFICE] is? What would make it normal in your residence hall, your class group chat or your family to say "I think I just got scammed"? Optional, with Pass allowed: has a message like these ever reached you, and what did your hackles tell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aloud and pause. Hand out the Campus Safety Card and the evaluation card.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each resource and say what it does. Say that you will gladly walk anyone to the office. Remind students that some resources are confidential and some have reporting duties, and that they can ask 'What would you have to share?' first [COUNSEL TO CONFIRM]. Disclosure notes for this session: A student may disclose a financial loss, identity theft, or an ongoing threat tied to a scam. Treat shame as the main enemy: say "thank you for telling me, this happens to careful people." Connect them to their bank or card issuer first, then [FINANCIAL AID OFFICE] or [DEAN OF STUDENTS] if aid or tuition is affected, then reportfraud.ftc.gov and identitytheft.gov [VERIFY]. A student in financial crisis can also be pointed to [EMERGENCY AID OR BASIC NEEDS OFFICE, if any]. If the scammer is now threatening the student or has intimate images, move to the Session 5 protocol the same day.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cards are anonymous. Do not collect names, student ID numbers or email addresses. Tally counts only (for example, how many students circled each number). Aggregate results can go to your supervisor; individual cards are recycled after tallying [LOCAL: confirm records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Session 1: Too Good, Too Fast: Scams Aimed at Students</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Digital Safety for College Students</a:t>
            </a:r>
          </a:p>
          <a:p>
            <a:pPr>
              <a:spcAft>
                <a:spcPts val="1000"/>
              </a:spcAft>
            </a:pPr>
            <a:r>
              <a:rPr sz="2800">
                <a:solidFill>
                  <a:srgbClr val="2B2D42"/>
                </a:solidFill>
                <a:latin typeface="Segoe UI"/>
              </a:rPr>
              <a:t>A free kit by Competence Collective</a:t>
            </a:r>
          </a:p>
          <a:p>
            <a:pPr>
              <a:spcAft>
                <a:spcPts val="1000"/>
              </a:spcAft>
            </a:pPr>
            <a:r>
              <a:rPr sz="2800">
                <a:solidFill>
                  <a:srgbClr val="2B2D42"/>
                </a:solidFill>
                <a:latin typeface="Segoe UI"/>
              </a:rPr>
              <a:t>Hackles up? Pause. Check. Tell.</a:t>
            </a:r>
          </a:p>
          <a:p>
            <a:pPr>
              <a:spcAft>
                <a:spcPts val="1000"/>
              </a:spcAft>
            </a:pPr>
            <a:r>
              <a:rPr sz="2800">
                <a:solidFill>
                  <a:srgbClr val="2B2D42"/>
                </a:solidFill>
                <a:latin typeface="Segoe UI"/>
              </a:rPr>
              <a:t>Facilitator: [NAME] · [COLLEGE NAME]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1 of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What you will be able to do</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Name four scam patterns that are common on campuses and describe how each one starts.</a:t>
            </a:r>
          </a:p>
          <a:p>
            <a:pPr>
              <a:spcAft>
                <a:spcPts val="1000"/>
              </a:spcAft>
            </a:pPr>
            <a:r>
              <a:rPr sz="2400">
                <a:solidFill>
                  <a:srgbClr val="2B2D42"/>
                </a:solidFill>
                <a:latin typeface="Segoe UI"/>
              </a:rPr>
              <a:t>Point to the pressure signals in a message: hurry, secrecy, an unusual way to pay, an offer that is too good, borrowed authority.</a:t>
            </a:r>
          </a:p>
          <a:p>
            <a:pPr>
              <a:spcAft>
                <a:spcPts val="1000"/>
              </a:spcAft>
            </a:pPr>
            <a:r>
              <a:rPr sz="2400">
                <a:solidFill>
                  <a:srgbClr val="2B2D42"/>
                </a:solidFill>
                <a:latin typeface="Segoe UI"/>
              </a:rPr>
              <a:t>Use Pause, Check, Tell with a second channel you chose yourself.</a:t>
            </a:r>
          </a:p>
          <a:p>
            <a:pPr>
              <a:spcAft>
                <a:spcPts val="1000"/>
              </a:spcAft>
            </a:pPr>
            <a:r>
              <a:rPr sz="2400">
                <a:solidFill>
                  <a:srgbClr val="2B2D42"/>
                </a:solidFill>
                <a:latin typeface="Segoe UI"/>
              </a:rPr>
              <a:t>State what to do in the first hour after paying or sharing information by mistake.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2 of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Hackles up?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Hackles up: notice what feels off, and say it in words</a:t>
            </a:r>
          </a:p>
          <a:p>
            <a:pPr>
              <a:spcAft>
                <a:spcPts val="1000"/>
              </a:spcAft>
            </a:pPr>
            <a:r>
              <a:rPr sz="2800">
                <a:solidFill>
                  <a:srgbClr val="2B2D42"/>
                </a:solidFill>
                <a:latin typeface="Segoe UI"/>
              </a:rPr>
              <a:t>Pause: nothing has to happen in five minutes</a:t>
            </a:r>
          </a:p>
          <a:p>
            <a:pPr>
              <a:spcAft>
                <a:spcPts val="1000"/>
              </a:spcAft>
            </a:pPr>
            <a:r>
              <a:rPr sz="2800">
                <a:solidFill>
                  <a:srgbClr val="2B2D42"/>
                </a:solidFill>
                <a:latin typeface="Segoe UI"/>
              </a:rPr>
              <a:t>Check: through a door you opened yourself</a:t>
            </a:r>
          </a:p>
          <a:p>
            <a:pPr>
              <a:spcAft>
                <a:spcPts val="1000"/>
              </a:spcAft>
            </a:pPr>
            <a:r>
              <a:rPr sz="2800">
                <a:solidFill>
                  <a:srgbClr val="2B2D42"/>
                </a:solidFill>
                <a:latin typeface="Segoe UI"/>
              </a:rPr>
              <a:t>Tell: a person, then a report. A false alarm is fine.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3 of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Open: why this, why you</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Scammers go where money, hurry and unfamiliar systems meet</a:t>
            </a:r>
          </a:p>
          <a:p>
            <a:pPr>
              <a:spcAft>
                <a:spcPts val="1000"/>
              </a:spcAft>
            </a:pPr>
            <a:r>
              <a:rPr sz="2800">
                <a:solidFill>
                  <a:srgbClr val="2B2D42"/>
                </a:solidFill>
                <a:latin typeface="Segoe UI"/>
              </a:rPr>
              <a:t>A new student is often in all three at once</a:t>
            </a:r>
          </a:p>
          <a:p>
            <a:pPr>
              <a:spcAft>
                <a:spcPts val="1000"/>
              </a:spcAft>
            </a:pPr>
            <a:r>
              <a:rPr sz="2800">
                <a:solidFill>
                  <a:srgbClr val="2B2D42"/>
                </a:solidFill>
                <a:latin typeface="Segoe UI"/>
              </a:rPr>
              <a:t>Today: four common student scams, one habit, one plan</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4 of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Four patterns you will see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Fake job or internship: an easy offer, a check, or a fee to be hired</a:t>
            </a:r>
          </a:p>
          <a:p>
            <a:pPr>
              <a:spcAft>
                <a:spcPts val="1000"/>
              </a:spcAft>
            </a:pPr>
            <a:r>
              <a:rPr sz="2400">
                <a:solidFill>
                  <a:srgbClr val="2B2D42"/>
                </a:solidFill>
                <a:latin typeface="Segoe UI"/>
              </a:rPr>
              <a:t>Housing: a price far below the market, a deposit before a viewing</a:t>
            </a:r>
          </a:p>
          <a:p>
            <a:pPr>
              <a:spcAft>
                <a:spcPts val="1000"/>
              </a:spcAft>
            </a:pPr>
            <a:r>
              <a:rPr sz="2400">
                <a:solidFill>
                  <a:srgbClr val="2B2D42"/>
                </a:solidFill>
                <a:latin typeface="Segoe UI"/>
              </a:rPr>
              <a:t>Aid and tuition: a text that says pay now or lose your classes</a:t>
            </a:r>
          </a:p>
          <a:p>
            <a:pPr>
              <a:spcAft>
                <a:spcPts val="1000"/>
              </a:spcAft>
            </a:pPr>
            <a:r>
              <a:rPr sz="2400">
                <a:solidFill>
                  <a:srgbClr val="2B2D42"/>
                </a:solidFill>
                <a:latin typeface="Segoe UI"/>
              </a:rPr>
              <a:t>Marketplace: overpayment, odd payment apps, tickets that never arrive</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5 of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The anatomy of the pitch, and Pause, Check, Tell</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Pressure signals: hurry, secrecy, odd payment, too good, borrowed authority</a:t>
            </a:r>
          </a:p>
          <a:p>
            <a:pPr>
              <a:spcAft>
                <a:spcPts val="1000"/>
              </a:spcAft>
            </a:pPr>
            <a:r>
              <a:rPr sz="2800">
                <a:solidFill>
                  <a:srgbClr val="2B2D42"/>
                </a:solidFill>
                <a:latin typeface="Segoe UI"/>
              </a:rPr>
              <a:t>Hackles up: name what feels off</a:t>
            </a:r>
          </a:p>
          <a:p>
            <a:pPr>
              <a:spcAft>
                <a:spcPts val="1000"/>
              </a:spcAft>
            </a:pPr>
            <a:r>
              <a:rPr sz="2800">
                <a:solidFill>
                  <a:srgbClr val="2B2D42"/>
                </a:solidFill>
                <a:latin typeface="Segoe UI"/>
              </a:rPr>
              <a:t>Pause: money decisions wait a few hours</a:t>
            </a:r>
          </a:p>
          <a:p>
            <a:pPr>
              <a:spcAft>
                <a:spcPts val="1000"/>
              </a:spcAft>
            </a:pPr>
            <a:r>
              <a:rPr sz="2800">
                <a:solidFill>
                  <a:srgbClr val="2B2D42"/>
                </a:solidFill>
                <a:latin typeface="Segoe UI"/>
              </a:rPr>
              <a:t>Check: a door you opened yourself</a:t>
            </a:r>
          </a:p>
          <a:p>
            <a:pPr>
              <a:spcAft>
                <a:spcPts val="1000"/>
              </a:spcAft>
            </a:pPr>
            <a:r>
              <a:rPr sz="2800">
                <a:solidFill>
                  <a:srgbClr val="2B2D42"/>
                </a:solidFill>
                <a:latin typeface="Segoe UI"/>
              </a:rPr>
              <a:t>Tell: a person, then a report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6 of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Activity: Six Offers on the Table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Reader reads the card.</a:t>
            </a:r>
          </a:p>
          <a:p>
            <a:pPr>
              <a:spcAft>
                <a:spcPts val="1000"/>
              </a:spcAft>
            </a:pPr>
            <a:r>
              <a:rPr sz="2800">
                <a:solidFill>
                  <a:srgbClr val="2B2D42"/>
                </a:solidFill>
                <a:latin typeface="Segoe UI"/>
              </a:rPr>
              <a:t>Group answers three worksheet questions: What raised our hackles? What would we check, and through which...</a:t>
            </a:r>
          </a:p>
          <a:p>
            <a:pPr>
              <a:spcAft>
                <a:spcPts val="1000"/>
              </a:spcAft>
            </a:pPr>
            <a:r>
              <a:rPr sz="2800">
                <a:solidFill>
                  <a:srgbClr val="2B2D42"/>
                </a:solidFill>
                <a:latin typeface="Segoe UI"/>
              </a:rPr>
              <a:t>Facilitator circulates and listens</a:t>
            </a:r>
          </a:p>
          <a:p>
            <a:pPr>
              <a:spcAft>
                <a:spcPts val="1000"/>
              </a:spcAft>
            </a:pPr>
            <a:r>
              <a:rPr sz="2800">
                <a:solidFill>
                  <a:srgbClr val="2B2D42"/>
                </a:solidFill>
                <a:latin typeface="Segoe UI"/>
              </a:rPr>
              <a:t>Debrief at the end</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7 of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Scenario cards and practice</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Cards are on your table (fictional composites)</a:t>
            </a:r>
          </a:p>
          <a:p>
            <a:pPr>
              <a:spcAft>
                <a:spcPts val="1000"/>
              </a:spcAft>
            </a:pPr>
            <a:r>
              <a:rPr sz="2800">
                <a:solidFill>
                  <a:srgbClr val="2B2D42"/>
                </a:solidFill>
                <a:latin typeface="Segoe UI"/>
              </a:rPr>
              <a:t>Nobody plays the sender, the offender or the person harmed</a:t>
            </a:r>
          </a:p>
          <a:p>
            <a:pPr>
              <a:spcAft>
                <a:spcPts val="1000"/>
              </a:spcAft>
            </a:pPr>
            <a:r>
              <a:rPr sz="2800">
                <a:solidFill>
                  <a:srgbClr val="2B2D42"/>
                </a:solidFill>
                <a:latin typeface="Segoe UI"/>
              </a:rPr>
              <a:t>Pass is always allowed</a:t>
            </a:r>
          </a:p>
          <a:p>
            <a:pPr>
              <a:spcAft>
                <a:spcPts val="1000"/>
              </a:spcAft>
            </a:pPr>
            <a:r>
              <a:rPr sz="2800">
                <a:solidFill>
                  <a:srgbClr val="2B2D42"/>
                </a:solidFill>
                <a:latin typeface="Segoe UI"/>
              </a:rPr>
              <a:t>Say what you would check, and who you would tell</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8 of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Discussion</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400">
                <a:solidFill>
                  <a:srgbClr val="2B2D42"/>
                </a:solidFill>
                <a:latin typeface="Segoe UI"/>
              </a:rPr>
              <a:t>Which pressure signals showed up most often across the cards? Which were easiest to miss?</a:t>
            </a:r>
          </a:p>
          <a:p>
            <a:pPr>
              <a:spcAft>
                <a:spcPts val="1000"/>
              </a:spcAft>
            </a:pPr>
            <a:r>
              <a:rPr sz="2400">
                <a:solidFill>
                  <a:srgbClr val="2B2D42"/>
                </a:solidFill>
                <a:latin typeface="Segoe UI"/>
              </a:rPr>
              <a:t>What makes it hard to Pause when a message says you have two hours? What would help?</a:t>
            </a:r>
          </a:p>
          <a:p>
            <a:pPr>
              <a:spcAft>
                <a:spcPts val="1000"/>
              </a:spcAft>
            </a:pPr>
            <a:r>
              <a:rPr sz="2400">
                <a:solidFill>
                  <a:srgbClr val="2B2D42"/>
                </a:solidFill>
                <a:latin typeface="Segoe UI"/>
              </a:rPr>
              <a:t>Where is the second channel on this campus: which phone number, which office, which portal? Does everyone...</a:t>
            </a:r>
          </a:p>
          <a:p>
            <a:pPr>
              <a:spcAft>
                <a:spcPts val="1000"/>
              </a:spcAft>
            </a:pPr>
            <a:r>
              <a:rPr sz="2400">
                <a:solidFill>
                  <a:srgbClr val="2B2D42"/>
                </a:solidFill>
                <a:latin typeface="Segoe UI"/>
              </a:rPr>
              <a:t>What would make it normal in your residence hall, your class group chat or your family to say "I think I...</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9 of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Takeaway</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When a message wants speed, secrecy or an odd way to pay, pause and check through a door you opened yourself, then tell someone. If you were fooled, it was a professional's work, and the next step is the first-hour list.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10 of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Where to get help</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Immediate danger: 911 or [CAMPUS POLICE]</a:t>
            </a:r>
          </a:p>
          <a:p>
            <a:pPr>
              <a:spcAft>
                <a:spcPts val="1000"/>
              </a:spcAft>
            </a:pPr>
            <a:r>
              <a:rPr sz="2800">
                <a:solidFill>
                  <a:srgbClr val="2B2D42"/>
                </a:solidFill>
                <a:latin typeface="Segoe UI"/>
              </a:rPr>
              <a:t>Counseling: [COUNSELING CENTER, PHONE]</a:t>
            </a:r>
          </a:p>
          <a:p>
            <a:pPr>
              <a:spcAft>
                <a:spcPts val="1000"/>
              </a:spcAft>
            </a:pPr>
            <a:r>
              <a:rPr sz="2800">
                <a:solidFill>
                  <a:srgbClr val="2B2D42"/>
                </a:solidFill>
                <a:latin typeface="Segoe UI"/>
              </a:rPr>
              <a:t>Title IX office: [NAME, PHONE]</a:t>
            </a:r>
          </a:p>
          <a:p>
            <a:pPr>
              <a:spcAft>
                <a:spcPts val="1000"/>
              </a:spcAft>
            </a:pPr>
            <a:r>
              <a:rPr sz="2800">
                <a:solidFill>
                  <a:srgbClr val="2B2D42"/>
                </a:solidFill>
                <a:latin typeface="Segoe UI"/>
              </a:rPr>
              <a:t>988: call or text 988</a:t>
            </a:r>
          </a:p>
          <a:p>
            <a:pPr>
              <a:spcAft>
                <a:spcPts val="1000"/>
              </a:spcAft>
            </a:pPr>
            <a:r>
              <a:rPr sz="2800">
                <a:solidFill>
                  <a:srgbClr val="2B2D42"/>
                </a:solidFill>
                <a:latin typeface="Segoe UI"/>
              </a:rPr>
              <a:t>Crisis Text Line: text HOME to 741741</a:t>
            </a:r>
          </a:p>
          <a:p>
            <a:pPr>
              <a:spcAft>
                <a:spcPts val="1000"/>
              </a:spcAft>
            </a:pPr>
            <a:r>
              <a:rPr sz="2800">
                <a:solidFill>
                  <a:srgbClr val="2B2D42"/>
                </a:solidFill>
                <a:latin typeface="Segoe UI"/>
              </a:rPr>
              <a:t>Scams: reportfraud.ftc.gov · Crime: ic3.gov [VERIFY]</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11 of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4E4"/>
        </a:solidFill>
        <a:effectLst/>
      </p:bgPr>
    </p:bg>
    <p:spTree>
      <p:nvGrpSpPr>
        <p:cNvPr id="1" name=""/>
        <p:cNvGrpSpPr/>
        <p:nvPr/>
      </p:nvGrpSpPr>
      <p:grpSpPr/>
      <p:sp>
        <p:nvSpPr>
          <p:cNvPr id="2" name="Title 1"/>
          <p:cNvSpPr>
            <a:spLocks noGrp="1"/>
          </p:cNvSpPr>
          <p:nvPr>
            <p:ph type="title"/>
          </p:nvPr>
        </p:nvSpPr>
        <p:spPr>
          <a:xfrm>
            <a:off x="640080" y="365760"/>
            <a:ext cx="10881360" cy="1188720"/>
          </a:xfrm>
        </p:spPr>
        <p:txBody>
          <a:bodyPr wrap="square" anchor="ctr"/>
          <a:lstStyle/>
          <a:p>
            <a:pPr algn="l"/>
            <a:r>
              <a:rPr sz="3400" b="1">
                <a:solidFill>
                  <a:srgbClr val="2B2D42"/>
                </a:solidFill>
                <a:latin typeface="Georgia"/>
              </a:rPr>
              <a:t>Evaluation card</a:t>
            </a:r>
          </a:p>
        </p:txBody>
      </p:sp>
      <p:sp>
        <p:nvSpPr>
          <p:cNvPr id="3" name="Content Placeholder 2"/>
          <p:cNvSpPr>
            <a:spLocks noGrp="1"/>
          </p:cNvSpPr>
          <p:nvPr>
            <p:ph idx="1"/>
          </p:nvPr>
        </p:nvSpPr>
        <p:spPr>
          <a:xfrm>
            <a:off x="822960" y="1737360"/>
            <a:ext cx="10515600" cy="4297680"/>
          </a:xfrm>
        </p:spPr>
        <p:txBody>
          <a:bodyPr wrap="square"/>
          <a:lstStyle/>
          <a:p>
            <a:pPr>
              <a:spcAft>
                <a:spcPts val="1000"/>
              </a:spcAft>
            </a:pPr>
            <a:r>
              <a:rPr sz="2800">
                <a:solidFill>
                  <a:srgbClr val="2B2D42"/>
                </a:solidFill>
                <a:latin typeface="Segoe UI"/>
              </a:rPr>
              <a:t>Anonymous: no names, no student ID numbers</a:t>
            </a:r>
          </a:p>
          <a:p>
            <a:pPr>
              <a:spcAft>
                <a:spcPts val="1000"/>
              </a:spcAft>
            </a:pPr>
            <a:r>
              <a:rPr sz="2800">
                <a:solidFill>
                  <a:srgbClr val="2B2D42"/>
                </a:solidFill>
                <a:latin typeface="Segoe UI"/>
              </a:rPr>
              <a:t>Two circle questions, one fill-in</a:t>
            </a:r>
          </a:p>
          <a:p>
            <a:pPr>
              <a:spcAft>
                <a:spcPts val="1000"/>
              </a:spcAft>
            </a:pPr>
            <a:r>
              <a:rPr sz="2800">
                <a:solidFill>
                  <a:srgbClr val="2B2D42"/>
                </a:solidFill>
                <a:latin typeface="Segoe UI"/>
              </a:rPr>
              <a:t>Leave it on the table or hand it in on the way out</a:t>
            </a:r>
          </a:p>
        </p:txBody>
      </p:sp>
      <p:sp>
        <p:nvSpPr>
          <p:cNvPr id="4" name="Footer text"/>
          <p:cNvSpPr txBox="1"/>
          <p:nvPr/>
        </p:nvSpPr>
        <p:spPr>
          <a:xfrm>
            <a:off x="640080" y="6263640"/>
            <a:ext cx="10881360" cy="411480"/>
          </a:xfrm>
          <a:prstGeom prst="rect">
            <a:avLst/>
          </a:prstGeom>
          <a:noFill/>
        </p:spPr>
        <p:txBody>
          <a:bodyPr wrap="none">
            <a:spAutoFit/>
          </a:bodyPr>
          <a:lstStyle/>
          <a:p>
            <a:r>
              <a:rPr sz="1400">
                <a:solidFill>
                  <a:srgbClr val="45475A"/>
                </a:solidFill>
                <a:latin typeface="Segoe UI"/>
              </a:rPr>
              <a:t>Hackles · Digital Safety for College Students · Session 1 · 12 of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Safety for College Students: Session 1, Too Good, Too Fast: Scams Aimed at Students</dc:title>
  <dc:subject>(c) 2026 Competence Collective. CC BY-NC 4.0 for lesson text; Hackles name, logos and artwork excluded.</dc:subject>
  <dc:creator>Competence Collective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